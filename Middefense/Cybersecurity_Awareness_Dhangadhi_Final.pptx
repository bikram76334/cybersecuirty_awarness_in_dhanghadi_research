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0" r:id="rId24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9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9F9EDAD-A215-4BD7-8177-0B01F934EBC8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31F7377-21DB-4D90-BD2C-468D4F4F2DE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99AF4F1-15D1-42D9-9B64-5870D7B5E7C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5421B7-2131-4F86-A206-3EA27622C8B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649017-AE64-4EA2-BF18-F915C9D5839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0649F6-1111-44C8-B4DE-74E0FAEF494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E6E3FE-FCCC-4106-9D83-05F3DD0A387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9D4501-08E5-432B-BD20-4CE346F201B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515A19A-7C09-47C3-AE27-BF68BE61857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008F1E-1027-4580-BD0B-B9566D38A79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4D4591-8FA7-45FC-92E0-E1EC8A8E563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D9CDB1-6167-416D-A54B-3BCA0961444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F66B06-41B3-4111-8015-6E9829BF258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ACFE40-7E26-405D-95C4-001249C31D4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18C658-2AA7-4D48-8F18-45B8015282A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E355E6-8BF5-45C3-81C8-B185DD22025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941E53D-F245-4905-BBBE-AB989EE1346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4AA118-13D9-433A-99EE-6B7FF438C37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55051B-5EDC-4545-A22B-AA755D5602A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61F1B4-CEE2-4D9F-94E3-5BE1C074DCF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F18F83-ED4D-49E5-B7A0-32C583B63E8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9B158A-108A-4E2A-A71C-F7F771081B0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8275C8-1AC6-40DA-A5CC-3F41096DB46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9F50B0-794A-4B6A-85FB-44C0825F9D9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291120" cy="514296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" name="Image 0" descr="preencoded.png"/>
          <p:cNvPicPr/>
          <p:nvPr/>
        </p:nvPicPr>
        <p:blipFill>
          <a:blip r:embed="rId3"/>
          <a:stretch/>
        </p:blipFill>
        <p:spPr>
          <a:xfrm>
            <a:off x="1183708" y="1589390"/>
            <a:ext cx="876823" cy="879490"/>
          </a:xfrm>
          <a:prstGeom prst="rect">
            <a:avLst/>
          </a:prstGeom>
          <a:ln w="0">
            <a:noFill/>
          </a:ln>
        </p:spPr>
      </p:pic>
      <p:sp>
        <p:nvSpPr>
          <p:cNvPr id="10" name="Text 1"/>
          <p:cNvSpPr/>
          <p:nvPr/>
        </p:nvSpPr>
        <p:spPr>
          <a:xfrm>
            <a:off x="182880" y="2468880"/>
            <a:ext cx="29253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0D9E9E"/>
                </a:solidFill>
                <a:latin typeface="Calibri"/>
                <a:ea typeface="Calibri"/>
              </a:rPr>
              <a:t>National Academy of Science and Technology</a:t>
            </a:r>
            <a:endParaRPr lang="en-US" sz="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82880" y="2880360"/>
            <a:ext cx="292536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64748B"/>
                </a:solidFill>
                <a:latin typeface="Calibri"/>
                <a:ea typeface="Calibri"/>
              </a:rPr>
              <a:t>Dhangadhi, Kailali, Nepal  |  2026</a:t>
            </a:r>
            <a:endParaRPr lang="en-US" sz="8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3566160" y="777867"/>
            <a:ext cx="5302800" cy="113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dirty="0">
                <a:solidFill>
                  <a:srgbClr val="0D9E9E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Cybersecurity Awareness and Digital Safety Practices Among Adolescents Aged 16–20 in </a:t>
            </a:r>
            <a:r>
              <a:rPr lang="en-US" sz="1800" b="1" dirty="0" err="1">
                <a:solidFill>
                  <a:srgbClr val="0D9E9E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Dhangadhi</a:t>
            </a:r>
            <a:r>
              <a:rPr lang="en-US" sz="1800" b="1" dirty="0">
                <a:solidFill>
                  <a:srgbClr val="0D9E9E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, Nepal</a:t>
            </a:r>
            <a:endParaRPr lang="en-US" sz="2800" b="1" strike="noStrike" spc="-1" dirty="0">
              <a:solidFill>
                <a:srgbClr val="0D9E9E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3566160" y="2606040"/>
            <a:ext cx="5211360" cy="36000"/>
          </a:xfrm>
          <a:prstGeom prst="rect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3566160" y="274320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197">
                <a:solidFill>
                  <a:srgbClr val="E76F00"/>
                </a:solidFill>
                <a:latin typeface="Calibri"/>
                <a:ea typeface="Calibri"/>
              </a:rPr>
              <a:t>SUBMITTED BY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3566160" y="3017520"/>
            <a:ext cx="530280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FFFFFF"/>
                </a:solidFill>
                <a:latin typeface="Calibri"/>
                <a:ea typeface="Calibri"/>
              </a:rPr>
              <a:t>Bikram Chapagain   |   Kaustubh Pant   |   Maniram Chaudhary   |   Sandarv Lamichhane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3566160" y="342900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197">
                <a:solidFill>
                  <a:srgbClr val="E76F00"/>
                </a:solidFill>
                <a:latin typeface="Calibri"/>
                <a:ea typeface="Calibri"/>
              </a:rPr>
              <a:t>SUBMITTED TO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3566160" y="3703320"/>
            <a:ext cx="53028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E2E8F0"/>
                </a:solidFill>
                <a:latin typeface="Calibri"/>
                <a:ea typeface="Calibri"/>
              </a:rPr>
              <a:t>Department of Research and HRD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3674150" y="4442982"/>
            <a:ext cx="1794980" cy="348756"/>
          </a:xfrm>
          <a:prstGeom prst="roundRect">
            <a:avLst>
              <a:gd name="adj" fmla="val 16000"/>
            </a:avLst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3566160" y="4389120"/>
            <a:ext cx="2010960" cy="45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Mid-Defense Presentation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ABSTRACT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274320" y="868680"/>
            <a:ext cx="1919520" cy="1096560"/>
          </a:xfrm>
          <a:prstGeom prst="roundRect">
            <a:avLst>
              <a:gd name="adj" fmla="val 8333"/>
            </a:avLst>
          </a:prstGeom>
          <a:solidFill>
            <a:srgbClr val="1B3456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274320" y="896040"/>
            <a:ext cx="191952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E76F00"/>
                </a:solidFill>
                <a:latin typeface="Cambria"/>
                <a:ea typeface="Cambria"/>
              </a:rPr>
              <a:t>372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274320" y="15087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2E8F0"/>
                </a:solidFill>
                <a:latin typeface="Calibri"/>
                <a:ea typeface="Calibri"/>
              </a:rPr>
              <a:t>Valid Responses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2468880" y="868680"/>
            <a:ext cx="1919520" cy="1096560"/>
          </a:xfrm>
          <a:prstGeom prst="roundRect">
            <a:avLst>
              <a:gd name="adj" fmla="val 8333"/>
            </a:avLst>
          </a:prstGeom>
          <a:solidFill>
            <a:srgbClr val="1B3456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2468880" y="896040"/>
            <a:ext cx="191952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E76F00"/>
                </a:solidFill>
                <a:latin typeface="Cambria"/>
                <a:ea typeface="Cambria"/>
              </a:rPr>
              <a:t>6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2468880" y="15087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2E8F0"/>
                </a:solidFill>
                <a:latin typeface="Calibri"/>
                <a:ea typeface="Calibri"/>
              </a:rPr>
              <a:t>Colleges Surveyed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4663440" y="868680"/>
            <a:ext cx="1919520" cy="1096560"/>
          </a:xfrm>
          <a:prstGeom prst="roundRect">
            <a:avLst>
              <a:gd name="adj" fmla="val 8333"/>
            </a:avLst>
          </a:prstGeom>
          <a:solidFill>
            <a:srgbClr val="1B3456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4663440" y="896040"/>
            <a:ext cx="191952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E76F00"/>
                </a:solidFill>
                <a:latin typeface="Cambria"/>
                <a:ea typeface="Cambria"/>
              </a:rPr>
              <a:t>41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4663440" y="15087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2E8F0"/>
                </a:solidFill>
                <a:latin typeface="Calibri"/>
                <a:ea typeface="Calibri"/>
              </a:rPr>
              <a:t>Questionnaire Items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6858000" y="868680"/>
            <a:ext cx="1919520" cy="1096560"/>
          </a:xfrm>
          <a:prstGeom prst="roundRect">
            <a:avLst>
              <a:gd name="adj" fmla="val 8333"/>
            </a:avLst>
          </a:prstGeom>
          <a:solidFill>
            <a:srgbClr val="1B3456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6858000" y="896040"/>
            <a:ext cx="191952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strike="noStrike" spc="-1">
                <a:solidFill>
                  <a:srgbClr val="E76F00"/>
                </a:solidFill>
                <a:latin typeface="Cambria"/>
                <a:ea typeface="Cambria"/>
              </a:rPr>
              <a:t>16–20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6858000" y="1508760"/>
            <a:ext cx="19195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E2E8F0"/>
                </a:solidFill>
                <a:latin typeface="Calibri"/>
                <a:ea typeface="Calibri"/>
              </a:rPr>
              <a:t>Age Range (Years)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274320" y="2148840"/>
            <a:ext cx="8594640" cy="40176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320040" y="2212920"/>
            <a:ext cx="163800" cy="163800"/>
          </a:xfrm>
          <a:prstGeom prst="ellipse">
            <a:avLst/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567000" y="2148840"/>
            <a:ext cx="813744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91.6% recognized the importance of strong passwords; 75.7% aware of public Wi-Fi risks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7"/>
          <p:cNvSpPr/>
          <p:nvPr/>
        </p:nvSpPr>
        <p:spPr>
          <a:xfrm>
            <a:off x="274320" y="2624400"/>
            <a:ext cx="8594640" cy="401760"/>
          </a:xfrm>
          <a:prstGeom prst="roundRect">
            <a:avLst>
              <a:gd name="adj" fmla="val 13636"/>
            </a:avLst>
          </a:prstGeom>
          <a:solidFill>
            <a:srgbClr val="EEF4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8"/>
          <p:cNvSpPr/>
          <p:nvPr/>
        </p:nvSpPr>
        <p:spPr>
          <a:xfrm>
            <a:off x="320040" y="2688480"/>
            <a:ext cx="163800" cy="163800"/>
          </a:xfrm>
          <a:prstGeom prst="ellipse">
            <a:avLst/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9"/>
          <p:cNvSpPr/>
          <p:nvPr/>
        </p:nvSpPr>
        <p:spPr>
          <a:xfrm>
            <a:off x="567000" y="2624400"/>
            <a:ext cx="813744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Only 44.3% felt confident spotting suspicious messages; 53.5% used Two-Factor Authentication (2FA)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20"/>
          <p:cNvSpPr/>
          <p:nvPr/>
        </p:nvSpPr>
        <p:spPr>
          <a:xfrm>
            <a:off x="274320" y="3099960"/>
            <a:ext cx="8594640" cy="40176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21"/>
          <p:cNvSpPr/>
          <p:nvPr/>
        </p:nvSpPr>
        <p:spPr>
          <a:xfrm>
            <a:off x="320040" y="3163680"/>
            <a:ext cx="163800" cy="163800"/>
          </a:xfrm>
          <a:prstGeom prst="ellipse">
            <a:avLst/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22"/>
          <p:cNvSpPr/>
          <p:nvPr/>
        </p:nvSpPr>
        <p:spPr>
          <a:xfrm>
            <a:off x="567000" y="3099960"/>
            <a:ext cx="813744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86.3% claimed to use strong passwords; 78.7% reported not sharing OTP or sensitive info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3"/>
          <p:cNvSpPr/>
          <p:nvPr/>
        </p:nvSpPr>
        <p:spPr>
          <a:xfrm>
            <a:off x="274320" y="3575160"/>
            <a:ext cx="8594640" cy="401760"/>
          </a:xfrm>
          <a:prstGeom prst="roundRect">
            <a:avLst>
              <a:gd name="adj" fmla="val 13636"/>
            </a:avLst>
          </a:prstGeom>
          <a:solidFill>
            <a:srgbClr val="EEF4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24"/>
          <p:cNvSpPr/>
          <p:nvPr/>
        </p:nvSpPr>
        <p:spPr>
          <a:xfrm>
            <a:off x="320040" y="3639240"/>
            <a:ext cx="163800" cy="163800"/>
          </a:xfrm>
          <a:prstGeom prst="ellipse">
            <a:avLst/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567000" y="3575160"/>
            <a:ext cx="813744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Only 37.6% used antivirus software or a VPN; 50.7% regularly updated their software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6"/>
          <p:cNvSpPr/>
          <p:nvPr/>
        </p:nvSpPr>
        <p:spPr>
          <a:xfrm>
            <a:off x="274320" y="4050720"/>
            <a:ext cx="8594640" cy="40176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7"/>
          <p:cNvSpPr/>
          <p:nvPr/>
        </p:nvSpPr>
        <p:spPr>
          <a:xfrm>
            <a:off x="320040" y="4114800"/>
            <a:ext cx="163800" cy="163800"/>
          </a:xfrm>
          <a:prstGeom prst="ellipse">
            <a:avLst/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8"/>
          <p:cNvSpPr/>
          <p:nvPr/>
        </p:nvSpPr>
        <p:spPr>
          <a:xfrm>
            <a:off x="567000" y="4050720"/>
            <a:ext cx="813744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47.8% admitted to ignoring cybersecurity risks despite awareness — critical knowledge-practice gap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9"/>
          <p:cNvSpPr/>
          <p:nvPr/>
        </p:nvSpPr>
        <p:spPr>
          <a:xfrm>
            <a:off x="274320" y="4526280"/>
            <a:ext cx="8594640" cy="401760"/>
          </a:xfrm>
          <a:prstGeom prst="roundRect">
            <a:avLst>
              <a:gd name="adj" fmla="val 13636"/>
            </a:avLst>
          </a:prstGeom>
          <a:solidFill>
            <a:srgbClr val="EEF4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30"/>
          <p:cNvSpPr/>
          <p:nvPr/>
        </p:nvSpPr>
        <p:spPr>
          <a:xfrm>
            <a:off x="320040" y="4590360"/>
            <a:ext cx="163800" cy="163800"/>
          </a:xfrm>
          <a:prstGeom prst="ellipse">
            <a:avLst/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31"/>
          <p:cNvSpPr/>
          <p:nvPr/>
        </p:nvSpPr>
        <p:spPr>
          <a:xfrm>
            <a:off x="567000" y="4526280"/>
            <a:ext cx="8137440" cy="40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E293B"/>
                </a:solidFill>
                <a:latin typeface="Calibri"/>
                <a:ea typeface="Calibri"/>
              </a:rPr>
              <a:t>85.1% agreed cybersecurity awareness is important; 49.5% personally affected by cyber incidents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TABLE OF CONTENTS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274320" y="896040"/>
            <a:ext cx="8594640" cy="52956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274320" y="896040"/>
            <a:ext cx="502200" cy="529560"/>
          </a:xfrm>
          <a:prstGeom prst="roundRect">
            <a:avLst>
              <a:gd name="adj" fmla="val 12727"/>
            </a:avLst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274320" y="896040"/>
            <a:ext cx="50220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01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868680" y="93276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Introduction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868680" y="1170360"/>
            <a:ext cx="78631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4748B"/>
                </a:solidFill>
                <a:latin typeface="Calibri"/>
                <a:ea typeface="Calibri"/>
              </a:rPr>
              <a:t>Background, Literature Review, Objectives, Hypothesis &amp; Conceptual Framework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274320" y="1490400"/>
            <a:ext cx="8594640" cy="529560"/>
          </a:xfrm>
          <a:prstGeom prst="roundRect">
            <a:avLst>
              <a:gd name="adj" fmla="val 12069"/>
            </a:avLst>
          </a:prstGeom>
          <a:solidFill>
            <a:srgbClr val="EEF4FB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274320" y="1490400"/>
            <a:ext cx="502200" cy="529560"/>
          </a:xfrm>
          <a:prstGeom prst="roundRect">
            <a:avLst>
              <a:gd name="adj" fmla="val 12727"/>
            </a:avLst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274320" y="1490400"/>
            <a:ext cx="50220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02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868680" y="152712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Methodology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1"/>
          <p:cNvSpPr/>
          <p:nvPr/>
        </p:nvSpPr>
        <p:spPr>
          <a:xfrm>
            <a:off x="868680" y="1764720"/>
            <a:ext cx="78631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4748B"/>
                </a:solidFill>
                <a:latin typeface="Calibri"/>
                <a:ea typeface="Calibri"/>
              </a:rPr>
              <a:t>Research Design, Study Area, Data Collection, Analysis Techniques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274320" y="2084760"/>
            <a:ext cx="8594640" cy="52956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274320" y="2084760"/>
            <a:ext cx="502200" cy="529560"/>
          </a:xfrm>
          <a:prstGeom prst="roundRect">
            <a:avLst>
              <a:gd name="adj" fmla="val 12727"/>
            </a:avLst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4"/>
          <p:cNvSpPr/>
          <p:nvPr/>
        </p:nvSpPr>
        <p:spPr>
          <a:xfrm>
            <a:off x="274320" y="2084760"/>
            <a:ext cx="50220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03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5"/>
          <p:cNvSpPr/>
          <p:nvPr/>
        </p:nvSpPr>
        <p:spPr>
          <a:xfrm>
            <a:off x="868680" y="212148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Results &amp; Findings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6"/>
          <p:cNvSpPr/>
          <p:nvPr/>
        </p:nvSpPr>
        <p:spPr>
          <a:xfrm>
            <a:off x="868680" y="2359080"/>
            <a:ext cx="78631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4748B"/>
                </a:solidFill>
                <a:latin typeface="Calibri"/>
                <a:ea typeface="Calibri"/>
              </a:rPr>
              <a:t>Demographics, Cybersecurity Awareness, Digital Safety Practices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274320" y="2679120"/>
            <a:ext cx="8594640" cy="529560"/>
          </a:xfrm>
          <a:prstGeom prst="roundRect">
            <a:avLst>
              <a:gd name="adj" fmla="val 12069"/>
            </a:avLst>
          </a:prstGeom>
          <a:solidFill>
            <a:srgbClr val="EEF4FB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274320" y="2679120"/>
            <a:ext cx="502200" cy="529560"/>
          </a:xfrm>
          <a:prstGeom prst="roundRect">
            <a:avLst>
              <a:gd name="adj" fmla="val 12727"/>
            </a:avLst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274320" y="2679120"/>
            <a:ext cx="50220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04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868680" y="271584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Application of Findings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868680" y="2953440"/>
            <a:ext cx="78631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4748B"/>
                </a:solidFill>
                <a:latin typeface="Calibri"/>
                <a:ea typeface="Calibri"/>
              </a:rPr>
              <a:t>Educational Institutions, Community Programs, Policymakers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274320" y="3273480"/>
            <a:ext cx="8594640" cy="52956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274320" y="3273480"/>
            <a:ext cx="502200" cy="529560"/>
          </a:xfrm>
          <a:prstGeom prst="roundRect">
            <a:avLst>
              <a:gd name="adj" fmla="val 12727"/>
            </a:avLst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24"/>
          <p:cNvSpPr/>
          <p:nvPr/>
        </p:nvSpPr>
        <p:spPr>
          <a:xfrm>
            <a:off x="274320" y="3273480"/>
            <a:ext cx="50220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05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5"/>
          <p:cNvSpPr/>
          <p:nvPr/>
        </p:nvSpPr>
        <p:spPr>
          <a:xfrm>
            <a:off x="868680" y="331020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Progress &amp; Budget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6"/>
          <p:cNvSpPr/>
          <p:nvPr/>
        </p:nvSpPr>
        <p:spPr>
          <a:xfrm>
            <a:off x="868680" y="3547800"/>
            <a:ext cx="78631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4748B"/>
                </a:solidFill>
                <a:latin typeface="Calibri"/>
                <a:ea typeface="Calibri"/>
              </a:rPr>
              <a:t>Milestone Tracking &amp; Budget Utilization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274320" y="3867840"/>
            <a:ext cx="8594640" cy="529560"/>
          </a:xfrm>
          <a:prstGeom prst="roundRect">
            <a:avLst>
              <a:gd name="adj" fmla="val 12069"/>
            </a:avLst>
          </a:prstGeom>
          <a:solidFill>
            <a:srgbClr val="EEF4FB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274320" y="3867840"/>
            <a:ext cx="502200" cy="529560"/>
          </a:xfrm>
          <a:prstGeom prst="roundRect">
            <a:avLst>
              <a:gd name="adj" fmla="val 12727"/>
            </a:avLst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29"/>
          <p:cNvSpPr/>
          <p:nvPr/>
        </p:nvSpPr>
        <p:spPr>
          <a:xfrm>
            <a:off x="274320" y="3867840"/>
            <a:ext cx="50220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06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30"/>
          <p:cNvSpPr/>
          <p:nvPr/>
        </p:nvSpPr>
        <p:spPr>
          <a:xfrm>
            <a:off x="868680" y="390456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Challenges &amp; Mitigations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31"/>
          <p:cNvSpPr/>
          <p:nvPr/>
        </p:nvSpPr>
        <p:spPr>
          <a:xfrm>
            <a:off x="868680" y="4142160"/>
            <a:ext cx="78631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4748B"/>
                </a:solidFill>
                <a:latin typeface="Calibri"/>
                <a:ea typeface="Calibri"/>
              </a:rPr>
              <a:t>Key Challenges Faced and How They Were Addressed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274320" y="4462200"/>
            <a:ext cx="8594640" cy="52956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274320" y="4462200"/>
            <a:ext cx="502200" cy="529560"/>
          </a:xfrm>
          <a:prstGeom prst="roundRect">
            <a:avLst>
              <a:gd name="adj" fmla="val 12727"/>
            </a:avLst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34"/>
          <p:cNvSpPr/>
          <p:nvPr/>
        </p:nvSpPr>
        <p:spPr>
          <a:xfrm>
            <a:off x="274320" y="4462200"/>
            <a:ext cx="50220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mbria"/>
                <a:ea typeface="Cambria"/>
              </a:rPr>
              <a:t>07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35"/>
          <p:cNvSpPr/>
          <p:nvPr/>
        </p:nvSpPr>
        <p:spPr>
          <a:xfrm>
            <a:off x="868680" y="4498920"/>
            <a:ext cx="21024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Conclusion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868680" y="4736520"/>
            <a:ext cx="78631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64748B"/>
                </a:solidFill>
                <a:latin typeface="Calibri"/>
                <a:ea typeface="Calibri"/>
              </a:rPr>
              <a:t>Key Takeaways, Recommendations &amp; Future Research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Cambria"/>
                <a:ea typeface="Cambria"/>
              </a:rPr>
              <a:t>CHAPTER 1 · INTRODUCTION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366120" y="1348604"/>
            <a:ext cx="41140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 dirty="0">
                <a:solidFill>
                  <a:srgbClr val="1B3456"/>
                </a:solidFill>
                <a:latin typeface="Cambria"/>
                <a:ea typeface="Cambria"/>
              </a:rPr>
              <a:t>Background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279D6C8-1F62-6C60-C81A-4FBC4E27393B}"/>
              </a:ext>
            </a:extLst>
          </p:cNvPr>
          <p:cNvGrpSpPr/>
          <p:nvPr/>
        </p:nvGrpSpPr>
        <p:grpSpPr>
          <a:xfrm>
            <a:off x="471420" y="1993621"/>
            <a:ext cx="4068360" cy="1553760"/>
            <a:chOff x="320040" y="1161360"/>
            <a:chExt cx="4068360" cy="1553760"/>
          </a:xfrm>
        </p:grpSpPr>
        <p:sp>
          <p:nvSpPr>
            <p:cNvPr id="94" name="Shape 3"/>
            <p:cNvSpPr/>
            <p:nvPr/>
          </p:nvSpPr>
          <p:spPr>
            <a:xfrm>
              <a:off x="320040" y="1225440"/>
              <a:ext cx="145440" cy="145440"/>
            </a:xfrm>
            <a:prstGeom prst="ellipse">
              <a:avLst/>
            </a:prstGeom>
            <a:solidFill>
              <a:srgbClr val="0A737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" name="Text 4"/>
            <p:cNvSpPr/>
            <p:nvPr/>
          </p:nvSpPr>
          <p:spPr>
            <a:xfrm>
              <a:off x="548640" y="1161360"/>
              <a:ext cx="3839760" cy="34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strike="noStrike" spc="-1" dirty="0">
                  <a:solidFill>
                    <a:srgbClr val="1E293B"/>
                  </a:solidFill>
                  <a:latin typeface="Calibri"/>
                  <a:ea typeface="Calibri"/>
                </a:rPr>
                <a:t>Internet and smartphones are integral to adolescents' daily lives in Nepal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Shape 5"/>
            <p:cNvSpPr/>
            <p:nvPr/>
          </p:nvSpPr>
          <p:spPr>
            <a:xfrm>
              <a:off x="320040" y="1627560"/>
              <a:ext cx="145440" cy="145440"/>
            </a:xfrm>
            <a:prstGeom prst="ellipse">
              <a:avLst/>
            </a:prstGeom>
            <a:solidFill>
              <a:srgbClr val="0A737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" name="Text 6"/>
            <p:cNvSpPr/>
            <p:nvPr/>
          </p:nvSpPr>
          <p:spPr>
            <a:xfrm>
              <a:off x="548640" y="1563480"/>
              <a:ext cx="3839760" cy="34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strike="noStrike" spc="-1" dirty="0">
                  <a:solidFill>
                    <a:srgbClr val="1E293B"/>
                  </a:solidFill>
                  <a:latin typeface="Calibri"/>
                  <a:ea typeface="Calibri"/>
                </a:rPr>
                <a:t>Cybersecurity threats: phishing, scams, malware, identity theft, privacy breaches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Shape 7"/>
            <p:cNvSpPr/>
            <p:nvPr/>
          </p:nvSpPr>
          <p:spPr>
            <a:xfrm>
              <a:off x="320040" y="2030040"/>
              <a:ext cx="145440" cy="145440"/>
            </a:xfrm>
            <a:prstGeom prst="ellipse">
              <a:avLst/>
            </a:prstGeom>
            <a:solidFill>
              <a:srgbClr val="0A737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9" name="Text 8"/>
            <p:cNvSpPr/>
            <p:nvPr/>
          </p:nvSpPr>
          <p:spPr>
            <a:xfrm>
              <a:off x="548640" y="1965960"/>
              <a:ext cx="3839760" cy="34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Dhangadhi students depend on digital platforms but awareness hasn't kept pace</a:t>
              </a:r>
              <a:endParaRPr lang="en-US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Shape 9"/>
            <p:cNvSpPr/>
            <p:nvPr/>
          </p:nvSpPr>
          <p:spPr>
            <a:xfrm>
              <a:off x="320040" y="2432160"/>
              <a:ext cx="145440" cy="145440"/>
            </a:xfrm>
            <a:prstGeom prst="ellipse">
              <a:avLst/>
            </a:prstGeom>
            <a:solidFill>
              <a:srgbClr val="0A737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" name="Text 10"/>
            <p:cNvSpPr/>
            <p:nvPr/>
          </p:nvSpPr>
          <p:spPr>
            <a:xfrm>
              <a:off x="548640" y="2368440"/>
              <a:ext cx="3839760" cy="34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Study targets Grade 11 &amp; 12 students across 6 institutions in Dhangadhi</a:t>
              </a:r>
              <a:endParaRPr lang="en-US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03D5ADA-3E11-85B9-4B5F-7083220E69C5}"/>
              </a:ext>
            </a:extLst>
          </p:cNvPr>
          <p:cNvGrpSpPr/>
          <p:nvPr/>
        </p:nvGrpSpPr>
        <p:grpSpPr>
          <a:xfrm>
            <a:off x="4677660" y="1461329"/>
            <a:ext cx="4114080" cy="2623680"/>
            <a:chOff x="4663440" y="822960"/>
            <a:chExt cx="4114080" cy="2623680"/>
          </a:xfrm>
        </p:grpSpPr>
        <p:sp>
          <p:nvSpPr>
            <p:cNvPr id="102" name="Text 11"/>
            <p:cNvSpPr/>
            <p:nvPr/>
          </p:nvSpPr>
          <p:spPr>
            <a:xfrm>
              <a:off x="4663440" y="822960"/>
              <a:ext cx="4114080" cy="31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00" b="1" strike="noStrike" spc="-1">
                  <a:solidFill>
                    <a:srgbClr val="1B3456"/>
                  </a:solidFill>
                  <a:latin typeface="Cambria"/>
                  <a:ea typeface="Cambria"/>
                </a:rPr>
                <a:t>Study at a Glance</a:t>
              </a:r>
              <a:endParaRPr lang="en-US" sz="15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Shape 12"/>
            <p:cNvSpPr/>
            <p:nvPr/>
          </p:nvSpPr>
          <p:spPr>
            <a:xfrm>
              <a:off x="4663440" y="1234440"/>
              <a:ext cx="1965240" cy="65772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0">
              <a:noFill/>
            </a:ln>
            <a:effectLst>
              <a:outerShdw blurRad="101520" dist="37674" dir="2700000" algn="bl" rotWithShape="0">
                <a:srgbClr val="000000">
                  <a:alpha val="12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Text 13"/>
            <p:cNvSpPr/>
            <p:nvPr/>
          </p:nvSpPr>
          <p:spPr>
            <a:xfrm>
              <a:off x="4663440" y="1280160"/>
              <a:ext cx="1965240" cy="25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strike="noStrike" spc="-1">
                  <a:solidFill>
                    <a:srgbClr val="0A7373"/>
                  </a:solidFill>
                  <a:latin typeface="Calibri"/>
                  <a:ea typeface="Calibri"/>
                </a:rPr>
                <a:t>📍 Location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Text 14"/>
            <p:cNvSpPr/>
            <p:nvPr/>
          </p:nvSpPr>
          <p:spPr>
            <a:xfrm>
              <a:off x="4663440" y="1508760"/>
              <a:ext cx="1965240" cy="34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Dhangadhi, Kailali, Nepal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Shape 15"/>
            <p:cNvSpPr/>
            <p:nvPr/>
          </p:nvSpPr>
          <p:spPr>
            <a:xfrm>
              <a:off x="6766560" y="1234440"/>
              <a:ext cx="1965240" cy="65772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0">
              <a:noFill/>
            </a:ln>
            <a:effectLst>
              <a:outerShdw blurRad="101520" dist="37674" dir="2700000" algn="bl" rotWithShape="0">
                <a:srgbClr val="000000">
                  <a:alpha val="12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Text 16"/>
            <p:cNvSpPr/>
            <p:nvPr/>
          </p:nvSpPr>
          <p:spPr>
            <a:xfrm>
              <a:off x="6766560" y="1280160"/>
              <a:ext cx="1965240" cy="25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strike="noStrike" spc="-1">
                  <a:solidFill>
                    <a:srgbClr val="0A7373"/>
                  </a:solidFill>
                  <a:latin typeface="Calibri"/>
                  <a:ea typeface="Calibri"/>
                </a:rPr>
                <a:t>🏫 Institutions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Text 17"/>
            <p:cNvSpPr/>
            <p:nvPr/>
          </p:nvSpPr>
          <p:spPr>
            <a:xfrm>
              <a:off x="6766560" y="1508760"/>
              <a:ext cx="1965240" cy="34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6 colleges surveyed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Shape 18"/>
            <p:cNvSpPr/>
            <p:nvPr/>
          </p:nvSpPr>
          <p:spPr>
            <a:xfrm>
              <a:off x="4663440" y="2011680"/>
              <a:ext cx="1965240" cy="65772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0">
              <a:noFill/>
            </a:ln>
            <a:effectLst>
              <a:outerShdw blurRad="101520" dist="37674" dir="2700000" algn="bl" rotWithShape="0">
                <a:srgbClr val="000000">
                  <a:alpha val="12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Text 19"/>
            <p:cNvSpPr/>
            <p:nvPr/>
          </p:nvSpPr>
          <p:spPr>
            <a:xfrm>
              <a:off x="4663440" y="2057400"/>
              <a:ext cx="1965240" cy="25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strike="noStrike" spc="-1">
                  <a:solidFill>
                    <a:srgbClr val="0A7373"/>
                  </a:solidFill>
                  <a:latin typeface="Calibri"/>
                  <a:ea typeface="Calibri"/>
                </a:rPr>
                <a:t>👥 Participants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" name="Text 20"/>
            <p:cNvSpPr/>
            <p:nvPr/>
          </p:nvSpPr>
          <p:spPr>
            <a:xfrm>
              <a:off x="4663440" y="2286000"/>
              <a:ext cx="1965240" cy="34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372 valid respondents (16–20 yrs)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" name="Shape 21"/>
            <p:cNvSpPr/>
            <p:nvPr/>
          </p:nvSpPr>
          <p:spPr>
            <a:xfrm>
              <a:off x="6766560" y="2011680"/>
              <a:ext cx="1965240" cy="65772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0">
              <a:noFill/>
            </a:ln>
            <a:effectLst>
              <a:outerShdw blurRad="101520" dist="37674" dir="2700000" algn="bl" rotWithShape="0">
                <a:srgbClr val="000000">
                  <a:alpha val="12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3" name="Text 22"/>
            <p:cNvSpPr/>
            <p:nvPr/>
          </p:nvSpPr>
          <p:spPr>
            <a:xfrm>
              <a:off x="6766560" y="2057400"/>
              <a:ext cx="1965240" cy="25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strike="noStrike" spc="-1">
                  <a:solidFill>
                    <a:srgbClr val="0A7373"/>
                  </a:solidFill>
                  <a:latin typeface="Calibri"/>
                  <a:ea typeface="Calibri"/>
                </a:rPr>
                <a:t>📋 Design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4" name="Text 23"/>
            <p:cNvSpPr/>
            <p:nvPr/>
          </p:nvSpPr>
          <p:spPr>
            <a:xfrm>
              <a:off x="6766560" y="2286000"/>
              <a:ext cx="1965240" cy="34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Descriptive research, Cochran's formula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" name="Shape 24"/>
            <p:cNvSpPr/>
            <p:nvPr/>
          </p:nvSpPr>
          <p:spPr>
            <a:xfrm>
              <a:off x="4663440" y="2788920"/>
              <a:ext cx="1965240" cy="65772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0">
              <a:noFill/>
            </a:ln>
            <a:effectLst>
              <a:outerShdw blurRad="101520" dist="37674" dir="2700000" algn="bl" rotWithShape="0">
                <a:srgbClr val="000000">
                  <a:alpha val="12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" name="Text 25"/>
            <p:cNvSpPr/>
            <p:nvPr/>
          </p:nvSpPr>
          <p:spPr>
            <a:xfrm>
              <a:off x="4663440" y="2834640"/>
              <a:ext cx="1965240" cy="25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strike="noStrike" spc="-1">
                  <a:solidFill>
                    <a:srgbClr val="0A7373"/>
                  </a:solidFill>
                  <a:latin typeface="Calibri"/>
                  <a:ea typeface="Calibri"/>
                </a:rPr>
                <a:t>🔬 Method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" name="Text 26"/>
            <p:cNvSpPr/>
            <p:nvPr/>
          </p:nvSpPr>
          <p:spPr>
            <a:xfrm>
              <a:off x="4663440" y="3063240"/>
              <a:ext cx="1965240" cy="34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Structured 41-item Likert Scale questionnaire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8" name="Shape 27"/>
            <p:cNvSpPr/>
            <p:nvPr/>
          </p:nvSpPr>
          <p:spPr>
            <a:xfrm>
              <a:off x="6766560" y="2788920"/>
              <a:ext cx="1965240" cy="65772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0">
              <a:noFill/>
            </a:ln>
            <a:effectLst>
              <a:outerShdw blurRad="101520" dist="37674" dir="2700000" algn="bl" rotWithShape="0">
                <a:srgbClr val="000000">
                  <a:alpha val="12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Text 28"/>
            <p:cNvSpPr/>
            <p:nvPr/>
          </p:nvSpPr>
          <p:spPr>
            <a:xfrm>
              <a:off x="6766560" y="2834640"/>
              <a:ext cx="1965240" cy="25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strike="noStrike" spc="-1">
                  <a:solidFill>
                    <a:srgbClr val="0A7373"/>
                  </a:solidFill>
                  <a:latin typeface="Calibri"/>
                  <a:ea typeface="Calibri"/>
                </a:rPr>
                <a:t>📊 Analysis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0" name="Text 29"/>
            <p:cNvSpPr/>
            <p:nvPr/>
          </p:nvSpPr>
          <p:spPr>
            <a:xfrm>
              <a:off x="6766560" y="3063240"/>
              <a:ext cx="1965240" cy="34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Descriptive stats, cross-tabulation, Likert scale</a:t>
              </a:r>
              <a:endParaRPr lang="en-US" sz="10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OBJECTIVES &amp; HYPOTHESES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274320" y="822960"/>
            <a:ext cx="8594640" cy="547920"/>
          </a:xfrm>
          <a:prstGeom prst="roundRect">
            <a:avLst>
              <a:gd name="adj" fmla="val 16667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457200" y="822960"/>
            <a:ext cx="83203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General Objective: To assess cybersecurity awareness and digital safety practices among adolescents aged 16–20 in </a:t>
            </a:r>
            <a:r>
              <a:rPr lang="en-US" sz="1200" b="0" strike="noStrike" spc="-1" dirty="0" err="1">
                <a:solidFill>
                  <a:srgbClr val="FFFFFF"/>
                </a:solidFill>
                <a:latin typeface="Calibri"/>
                <a:ea typeface="Calibri"/>
              </a:rPr>
              <a:t>Dhangadhi</a:t>
            </a:r>
            <a:r>
              <a:rPr lang="en-US" sz="120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, Nepal.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274320" y="148140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B3456"/>
                </a:solidFill>
                <a:latin typeface="Cambria"/>
                <a:ea typeface="Cambria"/>
              </a:rPr>
              <a:t>Specific Objectives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5"/>
          <p:cNvSpPr/>
          <p:nvPr/>
        </p:nvSpPr>
        <p:spPr>
          <a:xfrm>
            <a:off x="274320" y="1847160"/>
            <a:ext cx="4159800" cy="3740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274320" y="1847160"/>
            <a:ext cx="319320" cy="3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A7373"/>
                </a:solidFill>
                <a:latin typeface="Cambria"/>
                <a:ea typeface="Cambria"/>
              </a:rPr>
              <a:t>1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621720" y="1847160"/>
            <a:ext cx="3748320" cy="3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1E293B"/>
                </a:solidFill>
                <a:latin typeface="Calibri"/>
                <a:ea typeface="Calibri"/>
              </a:rPr>
              <a:t>Measure the level of cybersecurity awareness among adolescents aged 16–20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8"/>
          <p:cNvSpPr/>
          <p:nvPr/>
        </p:nvSpPr>
        <p:spPr>
          <a:xfrm>
            <a:off x="274320" y="2286000"/>
            <a:ext cx="4159800" cy="374040"/>
          </a:xfrm>
          <a:prstGeom prst="roundRect">
            <a:avLst>
              <a:gd name="adj" fmla="val 14634"/>
            </a:avLst>
          </a:prstGeom>
          <a:solidFill>
            <a:srgbClr val="EEF4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274320" y="2286000"/>
            <a:ext cx="319320" cy="3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A7373"/>
                </a:solidFill>
                <a:latin typeface="Cambria"/>
                <a:ea typeface="Cambria"/>
              </a:rPr>
              <a:t>2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621720" y="2286000"/>
            <a:ext cx="3748320" cy="3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E293B"/>
                </a:solidFill>
                <a:latin typeface="Calibri"/>
                <a:ea typeface="Calibri"/>
              </a:rPr>
              <a:t>Identify common cybersecurity threats encountered on digital platforms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1"/>
          <p:cNvSpPr/>
          <p:nvPr/>
        </p:nvSpPr>
        <p:spPr>
          <a:xfrm>
            <a:off x="274320" y="2724840"/>
            <a:ext cx="4159800" cy="3740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274320" y="2724840"/>
            <a:ext cx="319320" cy="3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A7373"/>
                </a:solidFill>
                <a:latin typeface="Cambria"/>
                <a:ea typeface="Cambria"/>
              </a:rPr>
              <a:t>3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621720" y="2724840"/>
            <a:ext cx="3748320" cy="3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1E293B"/>
                </a:solidFill>
                <a:latin typeface="Calibri"/>
                <a:ea typeface="Calibri"/>
              </a:rPr>
              <a:t>Examine the relationship between digital literacy and cybersecurity awareness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4"/>
          <p:cNvSpPr/>
          <p:nvPr/>
        </p:nvSpPr>
        <p:spPr>
          <a:xfrm>
            <a:off x="274320" y="3163680"/>
            <a:ext cx="4159800" cy="374040"/>
          </a:xfrm>
          <a:prstGeom prst="roundRect">
            <a:avLst>
              <a:gd name="adj" fmla="val 14634"/>
            </a:avLst>
          </a:prstGeom>
          <a:solidFill>
            <a:srgbClr val="EEF4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274320" y="3163680"/>
            <a:ext cx="319320" cy="3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A7373"/>
                </a:solidFill>
                <a:latin typeface="Cambria"/>
                <a:ea typeface="Cambria"/>
              </a:rPr>
              <a:t>4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621720" y="3163680"/>
            <a:ext cx="3748320" cy="3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E293B"/>
                </a:solidFill>
                <a:latin typeface="Calibri"/>
                <a:ea typeface="Calibri"/>
              </a:rPr>
              <a:t>Analyze digital safety practices adopted to prevent or respond to threats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7"/>
          <p:cNvSpPr/>
          <p:nvPr/>
        </p:nvSpPr>
        <p:spPr>
          <a:xfrm>
            <a:off x="274320" y="3602880"/>
            <a:ext cx="4159800" cy="37404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18"/>
          <p:cNvSpPr/>
          <p:nvPr/>
        </p:nvSpPr>
        <p:spPr>
          <a:xfrm>
            <a:off x="274320" y="3602880"/>
            <a:ext cx="319320" cy="3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A7373"/>
                </a:solidFill>
                <a:latin typeface="Cambria"/>
                <a:ea typeface="Cambria"/>
              </a:rPr>
              <a:t>5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621720" y="3602880"/>
            <a:ext cx="3748320" cy="37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E293B"/>
                </a:solidFill>
                <a:latin typeface="Calibri"/>
                <a:ea typeface="Calibri"/>
              </a:rPr>
              <a:t>Provide recommendations for improving cybersecurity education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20"/>
          <p:cNvSpPr/>
          <p:nvPr/>
        </p:nvSpPr>
        <p:spPr>
          <a:xfrm>
            <a:off x="4663440" y="1481400"/>
            <a:ext cx="420552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B3456"/>
                </a:solidFill>
                <a:latin typeface="Cambria"/>
                <a:ea typeface="Cambria"/>
              </a:rPr>
              <a:t>Hypotheses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21"/>
          <p:cNvSpPr/>
          <p:nvPr/>
        </p:nvSpPr>
        <p:spPr>
          <a:xfrm>
            <a:off x="4663440" y="1847160"/>
            <a:ext cx="415980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22"/>
          <p:cNvSpPr/>
          <p:nvPr/>
        </p:nvSpPr>
        <p:spPr>
          <a:xfrm>
            <a:off x="4663440" y="1847160"/>
            <a:ext cx="456480" cy="712440"/>
          </a:xfrm>
          <a:prstGeom prst="roundRect">
            <a:avLst>
              <a:gd name="adj" fmla="val 16000"/>
            </a:avLst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23"/>
          <p:cNvSpPr/>
          <p:nvPr/>
        </p:nvSpPr>
        <p:spPr>
          <a:xfrm>
            <a:off x="4663440" y="1847160"/>
            <a:ext cx="45648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mbria"/>
                <a:ea typeface="Cambria"/>
              </a:rPr>
              <a:t>H1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4"/>
          <p:cNvSpPr/>
          <p:nvPr/>
        </p:nvSpPr>
        <p:spPr>
          <a:xfrm>
            <a:off x="5193720" y="1847160"/>
            <a:ext cx="356544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1E293B"/>
                </a:solidFill>
                <a:latin typeface="Calibri"/>
                <a:ea typeface="Calibri"/>
              </a:rPr>
              <a:t>Adolescents with higher digital literacy demonstrate greater awareness of cybersecurity threats.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5"/>
          <p:cNvSpPr/>
          <p:nvPr/>
        </p:nvSpPr>
        <p:spPr>
          <a:xfrm>
            <a:off x="4663440" y="2651760"/>
            <a:ext cx="415980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26"/>
          <p:cNvSpPr/>
          <p:nvPr/>
        </p:nvSpPr>
        <p:spPr>
          <a:xfrm>
            <a:off x="4663440" y="2651760"/>
            <a:ext cx="456480" cy="712440"/>
          </a:xfrm>
          <a:prstGeom prst="roundRect">
            <a:avLst>
              <a:gd name="adj" fmla="val 16000"/>
            </a:avLst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27"/>
          <p:cNvSpPr/>
          <p:nvPr/>
        </p:nvSpPr>
        <p:spPr>
          <a:xfrm>
            <a:off x="4663440" y="2651760"/>
            <a:ext cx="45648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mbria"/>
                <a:ea typeface="Cambria"/>
              </a:rPr>
              <a:t>H2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28"/>
          <p:cNvSpPr/>
          <p:nvPr/>
        </p:nvSpPr>
        <p:spPr>
          <a:xfrm>
            <a:off x="5193720" y="2651760"/>
            <a:ext cx="356544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1E293B"/>
                </a:solidFill>
                <a:latin typeface="Calibri"/>
                <a:ea typeface="Calibri"/>
              </a:rPr>
              <a:t>Adolescents with greater cybersecurity awareness are more likely to adopt safe digital practices.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29"/>
          <p:cNvSpPr/>
          <p:nvPr/>
        </p:nvSpPr>
        <p:spPr>
          <a:xfrm>
            <a:off x="4663440" y="3456360"/>
            <a:ext cx="4159800" cy="71244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30"/>
          <p:cNvSpPr/>
          <p:nvPr/>
        </p:nvSpPr>
        <p:spPr>
          <a:xfrm>
            <a:off x="4663440" y="3456360"/>
            <a:ext cx="456480" cy="712440"/>
          </a:xfrm>
          <a:prstGeom prst="roundRect">
            <a:avLst>
              <a:gd name="adj" fmla="val 16000"/>
            </a:avLst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31"/>
          <p:cNvSpPr/>
          <p:nvPr/>
        </p:nvSpPr>
        <p:spPr>
          <a:xfrm>
            <a:off x="4663440" y="3456360"/>
            <a:ext cx="45648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mbria"/>
                <a:ea typeface="Cambria"/>
              </a:rPr>
              <a:t>H3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32"/>
          <p:cNvSpPr/>
          <p:nvPr/>
        </p:nvSpPr>
        <p:spPr>
          <a:xfrm>
            <a:off x="5193720" y="3456360"/>
            <a:ext cx="356544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1E293B"/>
                </a:solidFill>
                <a:latin typeface="Calibri"/>
                <a:ea typeface="Calibri"/>
              </a:rPr>
              <a:t>Adolescents who spend more time online are more likely to be exposed to cybersecurity risks.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CONCEPTUAL FRAMEWORK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Picture 181"/>
          <p:cNvPicPr/>
          <p:nvPr/>
        </p:nvPicPr>
        <p:blipFill>
          <a:blip r:embed="rId3"/>
          <a:stretch/>
        </p:blipFill>
        <p:spPr>
          <a:xfrm>
            <a:off x="2104372" y="1380453"/>
            <a:ext cx="4759890" cy="2596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Cambria"/>
                <a:ea typeface="Cambria"/>
              </a:rPr>
              <a:t>CHAPTER 2 · METHODOLOGY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228600" y="822960"/>
            <a:ext cx="4251240" cy="93204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338400" y="88704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A7373"/>
                </a:solidFill>
                <a:latin typeface="Cambria"/>
                <a:ea typeface="Cambria"/>
              </a:rPr>
              <a:t>Research Design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338400" y="1152000"/>
            <a:ext cx="402264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Descriptive design — no variable manipulation; objective assessment of current state of knowledge, attitudes &amp; behaviors.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4709160" y="822960"/>
            <a:ext cx="4251240" cy="93204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6"/>
          <p:cNvSpPr/>
          <p:nvPr/>
        </p:nvSpPr>
        <p:spPr>
          <a:xfrm>
            <a:off x="4818960" y="88704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A7373"/>
                </a:solidFill>
                <a:latin typeface="Cambria"/>
                <a:ea typeface="Cambria"/>
              </a:rPr>
              <a:t>Sample Size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4818960" y="1152000"/>
            <a:ext cx="402264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Target: 384 (Cochran's formula, 95% CI, 5% margin). Collected: 395. Valid after cleaning: 372 (96.9% of target).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8"/>
          <p:cNvSpPr/>
          <p:nvPr/>
        </p:nvSpPr>
        <p:spPr>
          <a:xfrm>
            <a:off x="228600" y="1865520"/>
            <a:ext cx="4251240" cy="93204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9"/>
          <p:cNvSpPr/>
          <p:nvPr/>
        </p:nvSpPr>
        <p:spPr>
          <a:xfrm>
            <a:off x="338400" y="192924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A7373"/>
                </a:solidFill>
                <a:latin typeface="Cambria"/>
                <a:ea typeface="Cambria"/>
              </a:rPr>
              <a:t>Study Area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0"/>
          <p:cNvSpPr/>
          <p:nvPr/>
        </p:nvSpPr>
        <p:spPr>
          <a:xfrm>
            <a:off x="338400" y="2194560"/>
            <a:ext cx="402264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6 colleges in Dhangadhi, Kailali: NAST, AVN, Alliance International, Navajeevan, Panchodaya, Kailali Model College.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1"/>
          <p:cNvSpPr/>
          <p:nvPr/>
        </p:nvSpPr>
        <p:spPr>
          <a:xfrm>
            <a:off x="4709160" y="1865520"/>
            <a:ext cx="4251240" cy="93204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4818960" y="192924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A7373"/>
                </a:solidFill>
                <a:latin typeface="Cambria"/>
                <a:ea typeface="Cambria"/>
              </a:rPr>
              <a:t>Sampling Strategy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4818960" y="2194560"/>
            <a:ext cx="402264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Convenience Sampling (accessibility) + Purposive Sampling (only 16–20 age range included).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4"/>
          <p:cNvSpPr/>
          <p:nvPr/>
        </p:nvSpPr>
        <p:spPr>
          <a:xfrm>
            <a:off x="228600" y="2907720"/>
            <a:ext cx="4251240" cy="93204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15"/>
          <p:cNvSpPr/>
          <p:nvPr/>
        </p:nvSpPr>
        <p:spPr>
          <a:xfrm>
            <a:off x="338400" y="297180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A7373"/>
                </a:solidFill>
                <a:latin typeface="Cambria"/>
                <a:ea typeface="Cambria"/>
              </a:rPr>
              <a:t>Data Collection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6"/>
          <p:cNvSpPr/>
          <p:nvPr/>
        </p:nvSpPr>
        <p:spPr>
          <a:xfrm>
            <a:off x="338400" y="3237120"/>
            <a:ext cx="402264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41-item structured questionnaire (Sections A–H); physical visits with researchers present to clarify terms.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7"/>
          <p:cNvSpPr/>
          <p:nvPr/>
        </p:nvSpPr>
        <p:spPr>
          <a:xfrm>
            <a:off x="4709160" y="2907720"/>
            <a:ext cx="4251240" cy="93204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8"/>
          <p:cNvSpPr/>
          <p:nvPr/>
        </p:nvSpPr>
        <p:spPr>
          <a:xfrm>
            <a:off x="4818960" y="297180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A7373"/>
                </a:solidFill>
                <a:latin typeface="Cambria"/>
                <a:ea typeface="Cambria"/>
              </a:rPr>
              <a:t>Data Entry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9"/>
          <p:cNvSpPr/>
          <p:nvPr/>
        </p:nvSpPr>
        <p:spPr>
          <a:xfrm>
            <a:off x="4818960" y="3237120"/>
            <a:ext cx="402264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Paper responses manually entered into Google Forms; double-checked against originals for accuracy.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0"/>
          <p:cNvSpPr/>
          <p:nvPr/>
        </p:nvSpPr>
        <p:spPr>
          <a:xfrm>
            <a:off x="228600" y="3950280"/>
            <a:ext cx="4251240" cy="93204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21"/>
          <p:cNvSpPr/>
          <p:nvPr/>
        </p:nvSpPr>
        <p:spPr>
          <a:xfrm>
            <a:off x="338400" y="401436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A7373"/>
                </a:solidFill>
                <a:latin typeface="Cambria"/>
                <a:ea typeface="Cambria"/>
              </a:rPr>
              <a:t>Analysis Techniques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22"/>
          <p:cNvSpPr/>
          <p:nvPr/>
        </p:nvSpPr>
        <p:spPr>
          <a:xfrm>
            <a:off x="338400" y="4279320"/>
            <a:ext cx="402264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Descriptive stats · Cross-tabulation · Likert scale analysis (% Agree/Strongly Agree) · Thematic/pattern analysis (in progress).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3"/>
          <p:cNvSpPr/>
          <p:nvPr/>
        </p:nvSpPr>
        <p:spPr>
          <a:xfrm>
            <a:off x="4709160" y="3950280"/>
            <a:ext cx="4251240" cy="93204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4"/>
          <p:cNvSpPr/>
          <p:nvPr/>
        </p:nvSpPr>
        <p:spPr>
          <a:xfrm>
            <a:off x="4818960" y="4014360"/>
            <a:ext cx="40226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A7373"/>
                </a:solidFill>
                <a:latin typeface="Cambria"/>
                <a:ea typeface="Cambria"/>
              </a:rPr>
              <a:t>Data Management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25"/>
          <p:cNvSpPr/>
          <p:nvPr/>
        </p:nvSpPr>
        <p:spPr>
          <a:xfrm>
            <a:off x="4818960" y="4279320"/>
            <a:ext cx="402264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Password-protected files; personally identifiable info removed; physical questionnaires stored securely.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Cambria"/>
                <a:ea typeface="Cambria"/>
              </a:rPr>
              <a:t>DATA COLLECTION — STUDY AREA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457200" y="82296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Table 2.1: Data Collections Modules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2" name="Table 0"/>
          <p:cNvGraphicFramePr/>
          <p:nvPr/>
        </p:nvGraphicFramePr>
        <p:xfrm>
          <a:off x="457200" y="1234440"/>
          <a:ext cx="7406640" cy="36576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S.No.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B345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College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B345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Collected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B345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Valid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B3456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Percentage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1B34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1.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NAST Secondary School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80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76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20.4%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2.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Aishwarya Vidya Niketan (AVN)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75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71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19.1%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3.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Alliance International Model School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73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70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18.8%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4.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Navajeevan College of Nursing and Health Science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60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57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15.3%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5.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Panchodaya Higher Secondary School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60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57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15.3%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6.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Kailali Model College (KMC)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47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41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11.0%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Total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strike="noStrike" spc="-1">
                        <a:solidFill>
                          <a:schemeClr val="dk1"/>
                        </a:solidFill>
                        <a:latin typeface="Calibri"/>
                        <a:ea typeface="Calibri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395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372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strike="noStrike" spc="-1">
                          <a:solidFill>
                            <a:srgbClr val="1E293B"/>
                          </a:solidFill>
                          <a:latin typeface="Calibri"/>
                          <a:ea typeface="Calibri"/>
                        </a:rPr>
                        <a:t>100%</a:t>
                      </a:r>
                      <a:endParaRPr lang="en-US" sz="11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3" name="Text 3"/>
          <p:cNvSpPr/>
          <p:nvPr/>
        </p:nvSpPr>
        <p:spPr>
          <a:xfrm>
            <a:off x="457200" y="45720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456"/>
                </a:solidFill>
                <a:latin typeface="Cambria"/>
                <a:ea typeface="Cambria"/>
              </a:rPr>
              <a:t>Questionnaire Sections (41 items total):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CHAPTER 3 · RESULTS — DEMOGRAPHIC PROFILE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2"/>
          <p:cNvSpPr/>
          <p:nvPr/>
        </p:nvSpPr>
        <p:spPr>
          <a:xfrm>
            <a:off x="182880" y="822960"/>
            <a:ext cx="4205520" cy="2102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274320" y="84132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456"/>
                </a:solidFill>
                <a:latin typeface="Cambria"/>
                <a:ea typeface="Cambria"/>
              </a:rPr>
              <a:t>Fig 3.1 · Gender Distribution (N=372)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Image 0" descr="preencoded.png"/>
          <p:cNvPicPr/>
          <p:nvPr/>
        </p:nvPicPr>
        <p:blipFill>
          <a:blip r:embed="rId3"/>
          <a:stretch/>
        </p:blipFill>
        <p:spPr>
          <a:xfrm>
            <a:off x="1230056" y="1133280"/>
            <a:ext cx="2289758" cy="1690920"/>
          </a:xfrm>
          <a:prstGeom prst="rect">
            <a:avLst/>
          </a:prstGeom>
          <a:ln w="0">
            <a:noFill/>
          </a:ln>
        </p:spPr>
      </p:pic>
      <p:sp>
        <p:nvSpPr>
          <p:cNvPr id="220" name="Shape 4"/>
          <p:cNvSpPr/>
          <p:nvPr/>
        </p:nvSpPr>
        <p:spPr>
          <a:xfrm>
            <a:off x="4572000" y="822960"/>
            <a:ext cx="4296960" cy="21024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5"/>
          <p:cNvSpPr/>
          <p:nvPr/>
        </p:nvSpPr>
        <p:spPr>
          <a:xfrm>
            <a:off x="4663440" y="84132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456"/>
                </a:solidFill>
                <a:latin typeface="Cambria"/>
                <a:ea typeface="Cambria"/>
              </a:rPr>
              <a:t>Fig 3.2 · College-wise Distribution (N=372)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Image 1" descr="preencoded.png"/>
          <p:cNvPicPr/>
          <p:nvPr/>
        </p:nvPicPr>
        <p:blipFill>
          <a:blip r:embed="rId4"/>
          <a:stretch/>
        </p:blipFill>
        <p:spPr>
          <a:xfrm>
            <a:off x="5277216" y="1092420"/>
            <a:ext cx="2864702" cy="1690920"/>
          </a:xfrm>
          <a:prstGeom prst="rect">
            <a:avLst/>
          </a:prstGeom>
          <a:ln w="0">
            <a:noFill/>
          </a:ln>
        </p:spPr>
      </p:pic>
      <p:sp>
        <p:nvSpPr>
          <p:cNvPr id="223" name="Shape 6"/>
          <p:cNvSpPr/>
          <p:nvPr/>
        </p:nvSpPr>
        <p:spPr>
          <a:xfrm>
            <a:off x="182880" y="3017520"/>
            <a:ext cx="4205520" cy="193788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7"/>
          <p:cNvSpPr/>
          <p:nvPr/>
        </p:nvSpPr>
        <p:spPr>
          <a:xfrm>
            <a:off x="274320" y="303588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456"/>
                </a:solidFill>
                <a:latin typeface="Cambria"/>
                <a:ea typeface="Cambria"/>
              </a:rPr>
              <a:t>Fig 3.3 · Age Distribution (N=372)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5" name="Image 2" descr="preencoded.png"/>
          <p:cNvPicPr/>
          <p:nvPr/>
        </p:nvPicPr>
        <p:blipFill>
          <a:blip r:embed="rId5"/>
          <a:stretch/>
        </p:blipFill>
        <p:spPr>
          <a:xfrm>
            <a:off x="766593" y="3327840"/>
            <a:ext cx="2753221" cy="1553760"/>
          </a:xfrm>
          <a:prstGeom prst="rect">
            <a:avLst/>
          </a:prstGeom>
          <a:ln w="0">
            <a:noFill/>
          </a:ln>
        </p:spPr>
      </p:pic>
      <p:sp>
        <p:nvSpPr>
          <p:cNvPr id="226" name="Shape 8"/>
          <p:cNvSpPr/>
          <p:nvPr/>
        </p:nvSpPr>
        <p:spPr>
          <a:xfrm>
            <a:off x="4572000" y="3017520"/>
            <a:ext cx="4296960" cy="193788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9"/>
          <p:cNvSpPr/>
          <p:nvPr/>
        </p:nvSpPr>
        <p:spPr>
          <a:xfrm>
            <a:off x="4663440" y="303588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456"/>
                </a:solidFill>
                <a:latin typeface="Cambria"/>
                <a:ea typeface="Cambria"/>
              </a:rPr>
              <a:t>Fig 3.4 · Gender by College (N=372)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Image 3" descr="preencoded.png"/>
          <p:cNvPicPr/>
          <p:nvPr/>
        </p:nvPicPr>
        <p:blipFill>
          <a:blip r:embed="rId6"/>
          <a:stretch/>
        </p:blipFill>
        <p:spPr>
          <a:xfrm>
            <a:off x="5101851" y="3250980"/>
            <a:ext cx="3040067" cy="1553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Cambria"/>
                <a:ea typeface="Cambria"/>
              </a:rPr>
              <a:t>INTERNET USAGE &amp; ACADEMIC BACKGROUND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182880" y="822960"/>
            <a:ext cx="4159800" cy="28339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292680" y="859680"/>
            <a:ext cx="39312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456"/>
                </a:solidFill>
                <a:latin typeface="Cambria"/>
                <a:ea typeface="Cambria"/>
              </a:rPr>
              <a:t>Fig 3.5 · Daily Internet Usage (N=372)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Image 0" descr="preencoded.png"/>
          <p:cNvPicPr/>
          <p:nvPr/>
        </p:nvPicPr>
        <p:blipFill>
          <a:blip r:embed="rId3"/>
          <a:stretch/>
        </p:blipFill>
        <p:spPr>
          <a:xfrm>
            <a:off x="947281" y="1206360"/>
            <a:ext cx="2951758" cy="2178121"/>
          </a:xfrm>
          <a:prstGeom prst="rect">
            <a:avLst/>
          </a:prstGeom>
          <a:ln w="0">
            <a:noFill/>
          </a:ln>
        </p:spPr>
      </p:pic>
      <p:sp>
        <p:nvSpPr>
          <p:cNvPr id="234" name="Shape 4"/>
          <p:cNvSpPr/>
          <p:nvPr/>
        </p:nvSpPr>
        <p:spPr>
          <a:xfrm>
            <a:off x="4572000" y="822960"/>
            <a:ext cx="4296960" cy="28339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4663440" y="859680"/>
            <a:ext cx="41140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456"/>
                </a:solidFill>
                <a:latin typeface="Cambria"/>
                <a:ea typeface="Cambria"/>
              </a:rPr>
              <a:t>Fig 3.6 · Technical vs Non-Technical (N=369)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Image 1" descr="preencoded.png"/>
          <p:cNvPicPr/>
          <p:nvPr/>
        </p:nvPicPr>
        <p:blipFill>
          <a:blip r:embed="rId4"/>
          <a:stretch/>
        </p:blipFill>
        <p:spPr>
          <a:xfrm>
            <a:off x="4871999" y="1244651"/>
            <a:ext cx="2756352" cy="2157377"/>
          </a:xfrm>
          <a:prstGeom prst="rect">
            <a:avLst/>
          </a:prstGeom>
          <a:ln w="0">
            <a:noFill/>
          </a:ln>
        </p:spPr>
      </p:pic>
      <p:sp>
        <p:nvSpPr>
          <p:cNvPr id="237" name="Shape 6"/>
          <p:cNvSpPr/>
          <p:nvPr/>
        </p:nvSpPr>
        <p:spPr>
          <a:xfrm>
            <a:off x="182880" y="3794760"/>
            <a:ext cx="2056680" cy="1005120"/>
          </a:xfrm>
          <a:prstGeom prst="roundRect">
            <a:avLst>
              <a:gd name="adj" fmla="val 7273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7"/>
          <p:cNvSpPr/>
          <p:nvPr/>
        </p:nvSpPr>
        <p:spPr>
          <a:xfrm>
            <a:off x="182880" y="382212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E76F00"/>
                </a:solidFill>
                <a:latin typeface="Cambria"/>
                <a:ea typeface="Cambria"/>
              </a:rPr>
              <a:t>43.5%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8"/>
          <p:cNvSpPr/>
          <p:nvPr/>
        </p:nvSpPr>
        <p:spPr>
          <a:xfrm>
            <a:off x="182880" y="4297680"/>
            <a:ext cx="2056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E2E8F0"/>
                </a:solidFill>
                <a:latin typeface="Calibri"/>
                <a:ea typeface="Calibri"/>
              </a:rPr>
              <a:t>use internet 2–4 hrs/day (most common)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9"/>
          <p:cNvSpPr/>
          <p:nvPr/>
        </p:nvSpPr>
        <p:spPr>
          <a:xfrm>
            <a:off x="2423160" y="3794760"/>
            <a:ext cx="2056680" cy="1005120"/>
          </a:xfrm>
          <a:prstGeom prst="roundRect">
            <a:avLst>
              <a:gd name="adj" fmla="val 7273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0"/>
          <p:cNvSpPr/>
          <p:nvPr/>
        </p:nvSpPr>
        <p:spPr>
          <a:xfrm>
            <a:off x="2423160" y="382212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E76F00"/>
                </a:solidFill>
                <a:latin typeface="Cambria"/>
                <a:ea typeface="Cambria"/>
              </a:rPr>
              <a:t>12.6%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11"/>
          <p:cNvSpPr/>
          <p:nvPr/>
        </p:nvSpPr>
        <p:spPr>
          <a:xfrm>
            <a:off x="2423160" y="4297680"/>
            <a:ext cx="2056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E2E8F0"/>
                </a:solidFill>
                <a:latin typeface="Calibri"/>
                <a:ea typeface="Calibri"/>
              </a:rPr>
              <a:t>use internet 6+ hrs/day (heavy users)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2"/>
          <p:cNvSpPr/>
          <p:nvPr/>
        </p:nvSpPr>
        <p:spPr>
          <a:xfrm>
            <a:off x="4663440" y="3794760"/>
            <a:ext cx="2056680" cy="1005120"/>
          </a:xfrm>
          <a:prstGeom prst="roundRect">
            <a:avLst>
              <a:gd name="adj" fmla="val 7273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13"/>
          <p:cNvSpPr/>
          <p:nvPr/>
        </p:nvSpPr>
        <p:spPr>
          <a:xfrm>
            <a:off x="4663440" y="382212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E76F00"/>
                </a:solidFill>
                <a:latin typeface="Cambria"/>
                <a:ea typeface="Cambria"/>
              </a:rPr>
              <a:t>70.2%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4"/>
          <p:cNvSpPr/>
          <p:nvPr/>
        </p:nvSpPr>
        <p:spPr>
          <a:xfrm>
            <a:off x="4663440" y="4297680"/>
            <a:ext cx="2056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E2E8F0"/>
                </a:solidFill>
                <a:latin typeface="Calibri"/>
                <a:ea typeface="Calibri"/>
              </a:rPr>
              <a:t>from non-technical backgrounds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5"/>
          <p:cNvSpPr/>
          <p:nvPr/>
        </p:nvSpPr>
        <p:spPr>
          <a:xfrm>
            <a:off x="6903720" y="3794760"/>
            <a:ext cx="2056680" cy="1005120"/>
          </a:xfrm>
          <a:prstGeom prst="roundRect">
            <a:avLst>
              <a:gd name="adj" fmla="val 7273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16"/>
          <p:cNvSpPr/>
          <p:nvPr/>
        </p:nvSpPr>
        <p:spPr>
          <a:xfrm>
            <a:off x="6903720" y="3822120"/>
            <a:ext cx="205668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E76F00"/>
                </a:solidFill>
                <a:latin typeface="Cambria"/>
                <a:ea typeface="Cambria"/>
              </a:rPr>
              <a:t>29.8%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17"/>
          <p:cNvSpPr/>
          <p:nvPr/>
        </p:nvSpPr>
        <p:spPr>
          <a:xfrm>
            <a:off x="6903720" y="4297680"/>
            <a:ext cx="20566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E2E8F0"/>
                </a:solidFill>
                <a:latin typeface="Calibri"/>
                <a:ea typeface="Calibri"/>
              </a:rPr>
              <a:t>from technical (Computer Science) backgrounds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FACULTY-WISE DISTRIBUTION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2"/>
          <p:cNvSpPr/>
          <p:nvPr/>
        </p:nvSpPr>
        <p:spPr>
          <a:xfrm>
            <a:off x="457200" y="822960"/>
            <a:ext cx="8228880" cy="36568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3"/>
          <p:cNvSpPr/>
          <p:nvPr/>
        </p:nvSpPr>
        <p:spPr>
          <a:xfrm>
            <a:off x="594360" y="868680"/>
            <a:ext cx="79545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Fig 3.7 · Faculty-wise Distribution of Respondents (N=372)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Image 0" descr="preencoded.png"/>
          <p:cNvPicPr/>
          <p:nvPr/>
        </p:nvPicPr>
        <p:blipFill>
          <a:blip r:embed="rId3"/>
          <a:stretch/>
        </p:blipFill>
        <p:spPr>
          <a:xfrm>
            <a:off x="2393723" y="1166580"/>
            <a:ext cx="4739849" cy="3108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360" y="-22860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FFFFFF"/>
                </a:solidFill>
                <a:latin typeface="Cambria"/>
                <a:ea typeface="Cambria"/>
              </a:rPr>
              <a:t>CYBERSECURITY AWARENESS AMONG ADOLESCENTS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"/>
          <p:cNvSpPr/>
          <p:nvPr/>
        </p:nvSpPr>
        <p:spPr>
          <a:xfrm>
            <a:off x="183240" y="502560"/>
            <a:ext cx="5302800" cy="2366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292680" y="58572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1B3456"/>
                </a:solidFill>
                <a:latin typeface="Cambria"/>
                <a:ea typeface="Cambria"/>
              </a:rPr>
              <a:t>Fig 3.8 · Cybersecurity Awareness Likert Distribution (N=372)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9" name="Image 0" descr="preencoded.png"/>
          <p:cNvPicPr/>
          <p:nvPr/>
        </p:nvPicPr>
        <p:blipFill>
          <a:blip r:embed="rId3"/>
          <a:stretch/>
        </p:blipFill>
        <p:spPr>
          <a:xfrm>
            <a:off x="745298" y="828764"/>
            <a:ext cx="3594970" cy="2027520"/>
          </a:xfrm>
          <a:prstGeom prst="rect">
            <a:avLst/>
          </a:prstGeom>
          <a:ln w="0">
            <a:noFill/>
          </a:ln>
        </p:spPr>
      </p:pic>
      <p:sp>
        <p:nvSpPr>
          <p:cNvPr id="260" name="Shape 4"/>
          <p:cNvSpPr/>
          <p:nvPr/>
        </p:nvSpPr>
        <p:spPr>
          <a:xfrm>
            <a:off x="5669280" y="822960"/>
            <a:ext cx="1572120" cy="822240"/>
          </a:xfrm>
          <a:prstGeom prst="roundRect">
            <a:avLst>
              <a:gd name="adj" fmla="val 8889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5669280" y="850320"/>
            <a:ext cx="1572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91.6%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6"/>
          <p:cNvSpPr/>
          <p:nvPr/>
        </p:nvSpPr>
        <p:spPr>
          <a:xfrm>
            <a:off x="5669280" y="1261800"/>
            <a:ext cx="15721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E2E8F0"/>
                </a:solidFill>
                <a:latin typeface="Calibri"/>
                <a:ea typeface="Calibri"/>
              </a:rPr>
              <a:t>Know strong passwords are important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7"/>
          <p:cNvSpPr/>
          <p:nvPr/>
        </p:nvSpPr>
        <p:spPr>
          <a:xfrm>
            <a:off x="7360920" y="822960"/>
            <a:ext cx="1572120" cy="822240"/>
          </a:xfrm>
          <a:prstGeom prst="roundRect">
            <a:avLst>
              <a:gd name="adj" fmla="val 8889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8"/>
          <p:cNvSpPr/>
          <p:nvPr/>
        </p:nvSpPr>
        <p:spPr>
          <a:xfrm>
            <a:off x="7360920" y="850320"/>
            <a:ext cx="1572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75.7%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9"/>
          <p:cNvSpPr/>
          <p:nvPr/>
        </p:nvSpPr>
        <p:spPr>
          <a:xfrm>
            <a:off x="7360920" y="1261800"/>
            <a:ext cx="15721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E2E8F0"/>
                </a:solidFill>
                <a:latin typeface="Calibri"/>
                <a:ea typeface="Calibri"/>
              </a:rPr>
              <a:t>Aware of public Wi-Fi risks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10"/>
          <p:cNvSpPr/>
          <p:nvPr/>
        </p:nvSpPr>
        <p:spPr>
          <a:xfrm>
            <a:off x="5669280" y="1764720"/>
            <a:ext cx="1572120" cy="822240"/>
          </a:xfrm>
          <a:prstGeom prst="roundRect">
            <a:avLst>
              <a:gd name="adj" fmla="val 8889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11"/>
          <p:cNvSpPr/>
          <p:nvPr/>
        </p:nvSpPr>
        <p:spPr>
          <a:xfrm>
            <a:off x="5669280" y="1792080"/>
            <a:ext cx="1572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73.8%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2"/>
          <p:cNvSpPr/>
          <p:nvPr/>
        </p:nvSpPr>
        <p:spPr>
          <a:xfrm>
            <a:off x="5669280" y="2203560"/>
            <a:ext cx="15721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E2E8F0"/>
                </a:solidFill>
                <a:latin typeface="Calibri"/>
                <a:ea typeface="Calibri"/>
              </a:rPr>
              <a:t>Understand unknown link risks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13"/>
          <p:cNvSpPr/>
          <p:nvPr/>
        </p:nvSpPr>
        <p:spPr>
          <a:xfrm>
            <a:off x="7360920" y="1764720"/>
            <a:ext cx="1572120" cy="822240"/>
          </a:xfrm>
          <a:prstGeom prst="roundRect">
            <a:avLst>
              <a:gd name="adj" fmla="val 8889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14"/>
          <p:cNvSpPr/>
          <p:nvPr/>
        </p:nvSpPr>
        <p:spPr>
          <a:xfrm>
            <a:off x="7360920" y="1792080"/>
            <a:ext cx="1572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70.1%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15"/>
          <p:cNvSpPr/>
          <p:nvPr/>
        </p:nvSpPr>
        <p:spPr>
          <a:xfrm>
            <a:off x="7360920" y="2203560"/>
            <a:ext cx="15721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E2E8F0"/>
                </a:solidFill>
                <a:latin typeface="Calibri"/>
                <a:ea typeface="Calibri"/>
              </a:rPr>
              <a:t>General cyber threat awareness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6"/>
          <p:cNvSpPr/>
          <p:nvPr/>
        </p:nvSpPr>
        <p:spPr>
          <a:xfrm>
            <a:off x="5669280" y="2706480"/>
            <a:ext cx="1572120" cy="822240"/>
          </a:xfrm>
          <a:prstGeom prst="roundRect">
            <a:avLst>
              <a:gd name="adj" fmla="val 8889"/>
            </a:avLst>
          </a:prstGeom>
          <a:solidFill>
            <a:srgbClr val="B91C1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17"/>
          <p:cNvSpPr/>
          <p:nvPr/>
        </p:nvSpPr>
        <p:spPr>
          <a:xfrm>
            <a:off x="5669280" y="2734200"/>
            <a:ext cx="1572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53.5%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8"/>
          <p:cNvSpPr/>
          <p:nvPr/>
        </p:nvSpPr>
        <p:spPr>
          <a:xfrm>
            <a:off x="5669280" y="3145680"/>
            <a:ext cx="15721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E2E8F0"/>
                </a:solidFill>
                <a:latin typeface="Calibri"/>
                <a:ea typeface="Calibri"/>
              </a:rPr>
              <a:t>Knowledge &amp; use of 2FA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19"/>
          <p:cNvSpPr/>
          <p:nvPr/>
        </p:nvSpPr>
        <p:spPr>
          <a:xfrm>
            <a:off x="7360920" y="2706480"/>
            <a:ext cx="1572120" cy="822240"/>
          </a:xfrm>
          <a:prstGeom prst="roundRect">
            <a:avLst>
              <a:gd name="adj" fmla="val 8889"/>
            </a:avLst>
          </a:prstGeom>
          <a:solidFill>
            <a:srgbClr val="B91C1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20"/>
          <p:cNvSpPr/>
          <p:nvPr/>
        </p:nvSpPr>
        <p:spPr>
          <a:xfrm>
            <a:off x="7360920" y="2734200"/>
            <a:ext cx="157212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Cambria"/>
                <a:ea typeface="Cambria"/>
              </a:rPr>
              <a:t>44.3%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1"/>
          <p:cNvSpPr/>
          <p:nvPr/>
        </p:nvSpPr>
        <p:spPr>
          <a:xfrm>
            <a:off x="7360920" y="3145680"/>
            <a:ext cx="157212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strike="noStrike" spc="-1">
                <a:solidFill>
                  <a:srgbClr val="E2E8F0"/>
                </a:solidFill>
                <a:latin typeface="Calibri"/>
                <a:ea typeface="Calibri"/>
              </a:rPr>
              <a:t>Can spot suspicious messages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22"/>
          <p:cNvSpPr/>
          <p:nvPr/>
        </p:nvSpPr>
        <p:spPr>
          <a:xfrm>
            <a:off x="183240" y="2869200"/>
            <a:ext cx="5302800" cy="227412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23"/>
          <p:cNvSpPr/>
          <p:nvPr/>
        </p:nvSpPr>
        <p:spPr>
          <a:xfrm>
            <a:off x="228600" y="28692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1B3456"/>
                </a:solidFill>
                <a:latin typeface="Cambria"/>
                <a:ea typeface="Cambria"/>
              </a:rPr>
              <a:t>Fig 3.9 · Awareness of Suspicious Messages (N=372)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0" name="Image 1" descr="preencoded.png"/>
          <p:cNvPicPr/>
          <p:nvPr/>
        </p:nvPicPr>
        <p:blipFill>
          <a:blip r:embed="rId3"/>
          <a:stretch/>
        </p:blipFill>
        <p:spPr>
          <a:xfrm>
            <a:off x="665492" y="3117600"/>
            <a:ext cx="4069346" cy="1938240"/>
          </a:xfrm>
          <a:prstGeom prst="rect">
            <a:avLst/>
          </a:prstGeom>
          <a:ln w="0">
            <a:noFill/>
          </a:ln>
        </p:spPr>
      </p:pic>
      <p:sp>
        <p:nvSpPr>
          <p:cNvPr id="281" name="Text 24"/>
          <p:cNvSpPr/>
          <p:nvPr/>
        </p:nvSpPr>
        <p:spPr>
          <a:xfrm>
            <a:off x="5577840" y="3794760"/>
            <a:ext cx="3382560" cy="109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1E293B"/>
                </a:solidFill>
                <a:latin typeface="Calibri"/>
                <a:ea typeface="Calibri"/>
              </a:rPr>
              <a:t>Key Gap: Only 44.3% felt confident spotting suspicious messages — a critical vulnerability point.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Cambria"/>
                <a:ea typeface="Cambria"/>
              </a:rPr>
              <a:t>AWARENESS OF PUBLIC WI-FI RISK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2"/>
          <p:cNvSpPr/>
          <p:nvPr/>
        </p:nvSpPr>
        <p:spPr>
          <a:xfrm>
            <a:off x="274320" y="804600"/>
            <a:ext cx="8594640" cy="32911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"/>
          <p:cNvSpPr/>
          <p:nvPr/>
        </p:nvSpPr>
        <p:spPr>
          <a:xfrm>
            <a:off x="457200" y="84132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Fig 3.10 · Awareness of Public Wi-Fi Risk (N=372)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6" name="Image 0" descr="preencoded.png"/>
          <p:cNvPicPr/>
          <p:nvPr/>
        </p:nvPicPr>
        <p:blipFill>
          <a:blip r:embed="rId3"/>
          <a:stretch/>
        </p:blipFill>
        <p:spPr>
          <a:xfrm>
            <a:off x="2229632" y="1289520"/>
            <a:ext cx="4584921" cy="2526928"/>
          </a:xfrm>
          <a:prstGeom prst="rect">
            <a:avLst/>
          </a:prstGeom>
          <a:ln w="0">
            <a:noFill/>
          </a:ln>
        </p:spPr>
      </p:pic>
      <p:sp>
        <p:nvSpPr>
          <p:cNvPr id="287" name="Shape 4"/>
          <p:cNvSpPr/>
          <p:nvPr/>
        </p:nvSpPr>
        <p:spPr>
          <a:xfrm>
            <a:off x="457200" y="4251960"/>
            <a:ext cx="2651040" cy="730800"/>
          </a:xfrm>
          <a:prstGeom prst="roundRect">
            <a:avLst>
              <a:gd name="adj" fmla="val 10000"/>
            </a:avLst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5"/>
          <p:cNvSpPr/>
          <p:nvPr/>
        </p:nvSpPr>
        <p:spPr>
          <a:xfrm>
            <a:off x="457200" y="427932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Cambria"/>
                <a:ea typeface="Cambria"/>
              </a:rPr>
              <a:t>74.5%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6"/>
          <p:cNvSpPr/>
          <p:nvPr/>
        </p:nvSpPr>
        <p:spPr>
          <a:xfrm>
            <a:off x="457200" y="460872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  <a:ea typeface="Calibri"/>
              </a:rPr>
              <a:t>Strongly Agree + Agree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7"/>
          <p:cNvSpPr/>
          <p:nvPr/>
        </p:nvSpPr>
        <p:spPr>
          <a:xfrm>
            <a:off x="3310200" y="4251960"/>
            <a:ext cx="2651040" cy="73080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3310200" y="427932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Cambria"/>
                <a:ea typeface="Cambria"/>
              </a:rPr>
              <a:t>12.4%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9"/>
          <p:cNvSpPr/>
          <p:nvPr/>
        </p:nvSpPr>
        <p:spPr>
          <a:xfrm>
            <a:off x="3310200" y="460872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  <a:ea typeface="Calibri"/>
              </a:rPr>
              <a:t>Neutral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0"/>
          <p:cNvSpPr/>
          <p:nvPr/>
        </p:nvSpPr>
        <p:spPr>
          <a:xfrm>
            <a:off x="6163200" y="4251960"/>
            <a:ext cx="2651040" cy="730800"/>
          </a:xfrm>
          <a:prstGeom prst="roundRect">
            <a:avLst>
              <a:gd name="adj" fmla="val 10000"/>
            </a:avLst>
          </a:prstGeom>
          <a:solidFill>
            <a:srgbClr val="B91C1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11"/>
          <p:cNvSpPr/>
          <p:nvPr/>
        </p:nvSpPr>
        <p:spPr>
          <a:xfrm>
            <a:off x="6163200" y="4279320"/>
            <a:ext cx="26510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Cambria"/>
                <a:ea typeface="Cambria"/>
              </a:rPr>
              <a:t>13.2%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2"/>
          <p:cNvSpPr/>
          <p:nvPr/>
        </p:nvSpPr>
        <p:spPr>
          <a:xfrm>
            <a:off x="6163200" y="460872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FFFFF"/>
                </a:solidFill>
                <a:latin typeface="Calibri"/>
                <a:ea typeface="Calibri"/>
              </a:rPr>
              <a:t>Disagree / Strongly Disagree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DIGITAL SAFETY PRACTICES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2"/>
          <p:cNvSpPr/>
          <p:nvPr/>
        </p:nvSpPr>
        <p:spPr>
          <a:xfrm>
            <a:off x="274320" y="82296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166534"/>
                </a:solidFill>
                <a:latin typeface="Cambria"/>
                <a:ea typeface="Cambria"/>
              </a:rPr>
              <a:t>Positive Practices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3"/>
          <p:cNvSpPr/>
          <p:nvPr/>
        </p:nvSpPr>
        <p:spPr>
          <a:xfrm>
            <a:off x="274320" y="1188720"/>
            <a:ext cx="4114080" cy="566280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274320" y="1188720"/>
            <a:ext cx="109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66534"/>
                </a:solidFill>
                <a:latin typeface="Cambria"/>
                <a:ea typeface="Cambria"/>
              </a:rPr>
              <a:t>86.3%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5"/>
          <p:cNvSpPr/>
          <p:nvPr/>
        </p:nvSpPr>
        <p:spPr>
          <a:xfrm>
            <a:off x="1417320" y="1188720"/>
            <a:ext cx="2925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E293B"/>
                </a:solidFill>
                <a:latin typeface="Calibri"/>
                <a:ea typeface="Calibri"/>
              </a:rPr>
              <a:t>Use strong passwords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6"/>
          <p:cNvSpPr/>
          <p:nvPr/>
        </p:nvSpPr>
        <p:spPr>
          <a:xfrm>
            <a:off x="274320" y="1874520"/>
            <a:ext cx="4114080" cy="566280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274320" y="1874520"/>
            <a:ext cx="109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66534"/>
                </a:solidFill>
                <a:latin typeface="Cambria"/>
                <a:ea typeface="Cambria"/>
              </a:rPr>
              <a:t>78.7%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8"/>
          <p:cNvSpPr/>
          <p:nvPr/>
        </p:nvSpPr>
        <p:spPr>
          <a:xfrm>
            <a:off x="1417320" y="1874520"/>
            <a:ext cx="2925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E293B"/>
                </a:solidFill>
                <a:latin typeface="Calibri"/>
                <a:ea typeface="Calibri"/>
              </a:rPr>
              <a:t>Don't share OTP / sensitive info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9"/>
          <p:cNvSpPr/>
          <p:nvPr/>
        </p:nvSpPr>
        <p:spPr>
          <a:xfrm>
            <a:off x="274320" y="2560320"/>
            <a:ext cx="4114080" cy="566280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0"/>
          <p:cNvSpPr/>
          <p:nvPr/>
        </p:nvSpPr>
        <p:spPr>
          <a:xfrm>
            <a:off x="274320" y="2560320"/>
            <a:ext cx="109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66534"/>
                </a:solidFill>
                <a:latin typeface="Cambria"/>
                <a:ea typeface="Cambria"/>
              </a:rPr>
              <a:t>74.4%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1"/>
          <p:cNvSpPr/>
          <p:nvPr/>
        </p:nvSpPr>
        <p:spPr>
          <a:xfrm>
            <a:off x="1417320" y="2560320"/>
            <a:ext cx="2925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E293B"/>
                </a:solidFill>
                <a:latin typeface="Calibri"/>
                <a:ea typeface="Calibri"/>
              </a:rPr>
              <a:t>Avoid unknown links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2"/>
          <p:cNvSpPr/>
          <p:nvPr/>
        </p:nvSpPr>
        <p:spPr>
          <a:xfrm>
            <a:off x="274320" y="3246120"/>
            <a:ext cx="4114080" cy="566280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13"/>
          <p:cNvSpPr/>
          <p:nvPr/>
        </p:nvSpPr>
        <p:spPr>
          <a:xfrm>
            <a:off x="274320" y="3246120"/>
            <a:ext cx="109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166534"/>
                </a:solidFill>
                <a:latin typeface="Cambria"/>
                <a:ea typeface="Cambria"/>
              </a:rPr>
              <a:t>73.1%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14"/>
          <p:cNvSpPr/>
          <p:nvPr/>
        </p:nvSpPr>
        <p:spPr>
          <a:xfrm>
            <a:off x="1417320" y="3246120"/>
            <a:ext cx="2925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E293B"/>
                </a:solidFill>
                <a:latin typeface="Calibri"/>
                <a:ea typeface="Calibri"/>
              </a:rPr>
              <a:t>Log out from shared devices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15"/>
          <p:cNvSpPr/>
          <p:nvPr/>
        </p:nvSpPr>
        <p:spPr>
          <a:xfrm>
            <a:off x="4754880" y="822960"/>
            <a:ext cx="41140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B91C1C"/>
                </a:solidFill>
                <a:latin typeface="Cambria"/>
                <a:ea typeface="Cambria"/>
              </a:rPr>
              <a:t>Unsafe / Risky Practices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6"/>
          <p:cNvSpPr/>
          <p:nvPr/>
        </p:nvSpPr>
        <p:spPr>
          <a:xfrm>
            <a:off x="4754880" y="1188720"/>
            <a:ext cx="4114080" cy="566280"/>
          </a:xfrm>
          <a:prstGeom prst="roundRect">
            <a:avLst>
              <a:gd name="adj" fmla="val 12903"/>
            </a:avLst>
          </a:prstGeom>
          <a:solidFill>
            <a:srgbClr val="FFF1F2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17"/>
          <p:cNvSpPr/>
          <p:nvPr/>
        </p:nvSpPr>
        <p:spPr>
          <a:xfrm>
            <a:off x="4754880" y="1188720"/>
            <a:ext cx="109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B91C1C"/>
                </a:solidFill>
                <a:latin typeface="Cambria"/>
                <a:ea typeface="Cambria"/>
              </a:rPr>
              <a:t>62.4%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18"/>
          <p:cNvSpPr/>
          <p:nvPr/>
        </p:nvSpPr>
        <p:spPr>
          <a:xfrm>
            <a:off x="5897880" y="1188720"/>
            <a:ext cx="2925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E293B"/>
                </a:solidFill>
                <a:latin typeface="Calibri"/>
                <a:ea typeface="Calibri"/>
              </a:rPr>
              <a:t>Do NOT use antivirus / VPN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9"/>
          <p:cNvSpPr/>
          <p:nvPr/>
        </p:nvSpPr>
        <p:spPr>
          <a:xfrm>
            <a:off x="4754880" y="1874520"/>
            <a:ext cx="4114080" cy="566280"/>
          </a:xfrm>
          <a:prstGeom prst="roundRect">
            <a:avLst>
              <a:gd name="adj" fmla="val 12903"/>
            </a:avLst>
          </a:prstGeom>
          <a:solidFill>
            <a:srgbClr val="FFF1F2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20"/>
          <p:cNvSpPr/>
          <p:nvPr/>
        </p:nvSpPr>
        <p:spPr>
          <a:xfrm>
            <a:off x="4754880" y="1874520"/>
            <a:ext cx="109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B91C1C"/>
                </a:solidFill>
                <a:latin typeface="Cambria"/>
                <a:ea typeface="Cambria"/>
              </a:rPr>
              <a:t>49.3%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21"/>
          <p:cNvSpPr/>
          <p:nvPr/>
        </p:nvSpPr>
        <p:spPr>
          <a:xfrm>
            <a:off x="5897880" y="1874520"/>
            <a:ext cx="2925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E293B"/>
                </a:solidFill>
                <a:latin typeface="Calibri"/>
                <a:ea typeface="Calibri"/>
              </a:rPr>
              <a:t>Don't regularly update software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22"/>
          <p:cNvSpPr/>
          <p:nvPr/>
        </p:nvSpPr>
        <p:spPr>
          <a:xfrm>
            <a:off x="4754880" y="2560320"/>
            <a:ext cx="4114080" cy="566280"/>
          </a:xfrm>
          <a:prstGeom prst="roundRect">
            <a:avLst>
              <a:gd name="adj" fmla="val 12903"/>
            </a:avLst>
          </a:prstGeom>
          <a:solidFill>
            <a:srgbClr val="FFF1F2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23"/>
          <p:cNvSpPr/>
          <p:nvPr/>
        </p:nvSpPr>
        <p:spPr>
          <a:xfrm>
            <a:off x="4754880" y="2560320"/>
            <a:ext cx="109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B91C1C"/>
                </a:solidFill>
                <a:latin typeface="Cambria"/>
                <a:ea typeface="Cambria"/>
              </a:rPr>
              <a:t>47.8%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24"/>
          <p:cNvSpPr/>
          <p:nvPr/>
        </p:nvSpPr>
        <p:spPr>
          <a:xfrm>
            <a:off x="5897880" y="2560320"/>
            <a:ext cx="2925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E293B"/>
                </a:solidFill>
                <a:latin typeface="Calibri"/>
                <a:ea typeface="Calibri"/>
              </a:rPr>
              <a:t>Ignore known cybersecurity risks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25"/>
          <p:cNvSpPr/>
          <p:nvPr/>
        </p:nvSpPr>
        <p:spPr>
          <a:xfrm>
            <a:off x="4754880" y="3246120"/>
            <a:ext cx="4114080" cy="566280"/>
          </a:xfrm>
          <a:prstGeom prst="roundRect">
            <a:avLst>
              <a:gd name="adj" fmla="val 12903"/>
            </a:avLst>
          </a:prstGeom>
          <a:solidFill>
            <a:srgbClr val="FFF1F2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26"/>
          <p:cNvSpPr/>
          <p:nvPr/>
        </p:nvSpPr>
        <p:spPr>
          <a:xfrm>
            <a:off x="4754880" y="3246120"/>
            <a:ext cx="10965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B91C1C"/>
                </a:solidFill>
                <a:latin typeface="Cambria"/>
                <a:ea typeface="Cambria"/>
              </a:rPr>
              <a:t>26.3%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27"/>
          <p:cNvSpPr/>
          <p:nvPr/>
        </p:nvSpPr>
        <p:spPr>
          <a:xfrm>
            <a:off x="5897880" y="3246120"/>
            <a:ext cx="292536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1E293B"/>
                </a:solidFill>
                <a:latin typeface="Calibri"/>
                <a:ea typeface="Calibri"/>
              </a:rPr>
              <a:t>Reuse same password on multiple platforms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8"/>
          <p:cNvSpPr/>
          <p:nvPr/>
        </p:nvSpPr>
        <p:spPr>
          <a:xfrm>
            <a:off x="274680" y="4005000"/>
            <a:ext cx="8594640" cy="867960"/>
          </a:xfrm>
          <a:prstGeom prst="roundRect">
            <a:avLst>
              <a:gd name="adj" fmla="val 10526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29"/>
          <p:cNvSpPr/>
          <p:nvPr/>
        </p:nvSpPr>
        <p:spPr>
          <a:xfrm>
            <a:off x="457200" y="4005000"/>
            <a:ext cx="822888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FFFFFF"/>
                </a:solidFill>
                <a:latin typeface="Calibri"/>
                <a:ea typeface="Calibri"/>
              </a:rPr>
              <a:t>⚠  Critical Knowledge-Practice Gap: Awareness alone does not guarantee safe digital behavior. 47.8% admit to ignoring risks they are fully aware of.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strike="noStrike" spc="-1">
                <a:solidFill>
                  <a:srgbClr val="FFFFFF"/>
                </a:solidFill>
                <a:latin typeface="Cambria"/>
                <a:ea typeface="Cambria"/>
              </a:rPr>
              <a:t>RISKY DIGITAL BEHAVIORS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2"/>
          <p:cNvSpPr/>
          <p:nvPr/>
        </p:nvSpPr>
        <p:spPr>
          <a:xfrm>
            <a:off x="274320" y="804600"/>
            <a:ext cx="8594640" cy="34740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3"/>
          <p:cNvSpPr/>
          <p:nvPr/>
        </p:nvSpPr>
        <p:spPr>
          <a:xfrm>
            <a:off x="457200" y="8413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Fig 3.11 · Risky Digital Behaviors Among Respondents (N=372)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0" name="Image 0" descr="preencoded.png"/>
          <p:cNvPicPr/>
          <p:nvPr/>
        </p:nvPicPr>
        <p:blipFill>
          <a:blip r:embed="rId3"/>
          <a:stretch/>
        </p:blipFill>
        <p:spPr>
          <a:xfrm>
            <a:off x="2035479" y="1461960"/>
            <a:ext cx="4202482" cy="2412721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FFFFFF"/>
                </a:solidFill>
                <a:latin typeface="Cambria"/>
                <a:ea typeface="Cambria"/>
              </a:rPr>
              <a:t>EXPOSURE TO CYBER THREATS &amp; INFLUENCING FACTORS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2"/>
          <p:cNvSpPr/>
          <p:nvPr/>
        </p:nvSpPr>
        <p:spPr>
          <a:xfrm>
            <a:off x="182880" y="1393856"/>
            <a:ext cx="5119920" cy="32911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320040" y="1430576"/>
            <a:ext cx="48456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3456"/>
                </a:solidFill>
                <a:latin typeface="Cambria"/>
                <a:ea typeface="Cambria"/>
              </a:rPr>
              <a:t>Fig 3.12 · Exposure to Cyber Threats (N=372)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6" name="Image 0" descr="preencoded.png"/>
          <p:cNvPicPr/>
          <p:nvPr/>
        </p:nvPicPr>
        <p:blipFill>
          <a:blip r:embed="rId3"/>
          <a:stretch/>
        </p:blipFill>
        <p:spPr>
          <a:xfrm>
            <a:off x="946341" y="2012943"/>
            <a:ext cx="3682026" cy="2188152"/>
          </a:xfrm>
          <a:prstGeom prst="rect">
            <a:avLst/>
          </a:prstGeom>
          <a:ln w="0">
            <a:noFill/>
          </a:ln>
        </p:spPr>
      </p:pic>
      <p:sp>
        <p:nvSpPr>
          <p:cNvPr id="337" name="Text 4"/>
          <p:cNvSpPr/>
          <p:nvPr/>
        </p:nvSpPr>
        <p:spPr>
          <a:xfrm>
            <a:off x="5486400" y="822960"/>
            <a:ext cx="33825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Key Influencing Factors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5"/>
          <p:cNvSpPr/>
          <p:nvPr/>
        </p:nvSpPr>
        <p:spPr>
          <a:xfrm>
            <a:off x="5486400" y="1188720"/>
            <a:ext cx="3428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6"/>
          <p:cNvSpPr/>
          <p:nvPr/>
        </p:nvSpPr>
        <p:spPr>
          <a:xfrm>
            <a:off x="5596200" y="1225440"/>
            <a:ext cx="319968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7373"/>
                </a:solidFill>
                <a:latin typeface="Cambria"/>
                <a:ea typeface="Cambria"/>
              </a:rPr>
              <a:t>Technical Background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7"/>
          <p:cNvSpPr/>
          <p:nvPr/>
        </p:nvSpPr>
        <p:spPr>
          <a:xfrm>
            <a:off x="5596200" y="1463040"/>
            <a:ext cx="319968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Computer Science students showed greater familiarity with 2FA &amp; VPNs vs. non-technical peers.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8"/>
          <p:cNvSpPr/>
          <p:nvPr/>
        </p:nvSpPr>
        <p:spPr>
          <a:xfrm>
            <a:off x="5486400" y="2103120"/>
            <a:ext cx="3428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9"/>
          <p:cNvSpPr/>
          <p:nvPr/>
        </p:nvSpPr>
        <p:spPr>
          <a:xfrm>
            <a:off x="5596200" y="2139840"/>
            <a:ext cx="319968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7373"/>
                </a:solidFill>
                <a:latin typeface="Cambria"/>
                <a:ea typeface="Cambria"/>
              </a:rPr>
              <a:t>Internet Usage Time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10"/>
          <p:cNvSpPr/>
          <p:nvPr/>
        </p:nvSpPr>
        <p:spPr>
          <a:xfrm>
            <a:off x="5596200" y="2377440"/>
            <a:ext cx="319968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12.6% using internet 6+ hrs/day reported higher exposure to threats.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11"/>
          <p:cNvSpPr/>
          <p:nvPr/>
        </p:nvSpPr>
        <p:spPr>
          <a:xfrm>
            <a:off x="5486400" y="3017520"/>
            <a:ext cx="3428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2"/>
          <p:cNvSpPr/>
          <p:nvPr/>
        </p:nvSpPr>
        <p:spPr>
          <a:xfrm>
            <a:off x="5596200" y="3054240"/>
            <a:ext cx="319968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7373"/>
                </a:solidFill>
                <a:latin typeface="Cambria"/>
                <a:ea typeface="Cambria"/>
              </a:rPr>
              <a:t>Personal Experience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13"/>
          <p:cNvSpPr/>
          <p:nvPr/>
        </p:nvSpPr>
        <p:spPr>
          <a:xfrm>
            <a:off x="5596200" y="3291840"/>
            <a:ext cx="319968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49.5% reported cyber incidents affecting themselves or someone they know.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4"/>
          <p:cNvSpPr/>
          <p:nvPr/>
        </p:nvSpPr>
        <p:spPr>
          <a:xfrm>
            <a:off x="5486400" y="3931920"/>
            <a:ext cx="342828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15"/>
          <p:cNvSpPr/>
          <p:nvPr/>
        </p:nvSpPr>
        <p:spPr>
          <a:xfrm>
            <a:off x="5596200" y="3968640"/>
            <a:ext cx="319968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A7373"/>
                </a:solidFill>
                <a:latin typeface="Cambria"/>
                <a:ea typeface="Cambria"/>
              </a:rPr>
              <a:t>Community Readiness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16"/>
          <p:cNvSpPr/>
          <p:nvPr/>
        </p:nvSpPr>
        <p:spPr>
          <a:xfrm>
            <a:off x="5596200" y="4206240"/>
            <a:ext cx="319968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85.1% affirm cybersecurity awareness is important — strong foundation for intervention.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Cambria"/>
                <a:ea typeface="Cambria"/>
              </a:rPr>
              <a:t>SUMMARY: AWARENESS &amp; SAFETY PRACTICES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2"/>
          <p:cNvSpPr/>
          <p:nvPr/>
        </p:nvSpPr>
        <p:spPr>
          <a:xfrm>
            <a:off x="274320" y="804600"/>
            <a:ext cx="8594640" cy="42055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3"/>
          <p:cNvSpPr/>
          <p:nvPr/>
        </p:nvSpPr>
        <p:spPr>
          <a:xfrm>
            <a:off x="457200" y="8413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B3456"/>
                </a:solidFill>
                <a:latin typeface="Cambria"/>
                <a:ea typeface="Cambria"/>
              </a:rPr>
              <a:t>Fig 3.13 · Summary Cybersecurity Awareness and Safety Practices (N=372)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5" name="Image 0" descr="preencoded.png"/>
          <p:cNvPicPr/>
          <p:nvPr/>
        </p:nvPicPr>
        <p:blipFill>
          <a:blip r:embed="rId3"/>
          <a:stretch/>
        </p:blipFill>
        <p:spPr>
          <a:xfrm>
            <a:off x="1784959" y="1499011"/>
            <a:ext cx="5285984" cy="286885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FFFFFF"/>
                </a:solidFill>
                <a:latin typeface="Cambria"/>
                <a:ea typeface="Cambria"/>
              </a:rPr>
              <a:t>CHAPTER 4 · APPLICATION OF RESEARCH FINDINGS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2"/>
          <p:cNvSpPr/>
          <p:nvPr/>
        </p:nvSpPr>
        <p:spPr>
          <a:xfrm>
            <a:off x="182880" y="804600"/>
            <a:ext cx="4251240" cy="2010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3"/>
          <p:cNvSpPr/>
          <p:nvPr/>
        </p:nvSpPr>
        <p:spPr>
          <a:xfrm>
            <a:off x="182880" y="804600"/>
            <a:ext cx="4251240" cy="346680"/>
          </a:xfrm>
          <a:prstGeom prst="roundRect">
            <a:avLst>
              <a:gd name="adj" fmla="val 26316"/>
            </a:avLst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4"/>
          <p:cNvSpPr/>
          <p:nvPr/>
        </p:nvSpPr>
        <p:spPr>
          <a:xfrm>
            <a:off x="182880" y="969120"/>
            <a:ext cx="4251240" cy="182160"/>
          </a:xfrm>
          <a:prstGeom prst="rect">
            <a:avLst/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5"/>
          <p:cNvSpPr/>
          <p:nvPr/>
        </p:nvSpPr>
        <p:spPr>
          <a:xfrm>
            <a:off x="292680" y="8046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mbria"/>
                <a:ea typeface="Cambria"/>
              </a:rPr>
              <a:t>4.1 Educational Institutions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6"/>
          <p:cNvSpPr/>
          <p:nvPr/>
        </p:nvSpPr>
        <p:spPr>
          <a:xfrm>
            <a:off x="311040" y="1225440"/>
            <a:ext cx="118080" cy="118080"/>
          </a:xfrm>
          <a:prstGeom prst="ellipse">
            <a:avLst/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7"/>
          <p:cNvSpPr/>
          <p:nvPr/>
        </p:nvSpPr>
        <p:spPr>
          <a:xfrm>
            <a:off x="475560" y="115200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Incorporate cybersecurity as a dedicated topic in CS / IT / digital literacy subjects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8"/>
          <p:cNvSpPr/>
          <p:nvPr/>
        </p:nvSpPr>
        <p:spPr>
          <a:xfrm>
            <a:off x="311040" y="1609200"/>
            <a:ext cx="118080" cy="118080"/>
          </a:xfrm>
          <a:prstGeom prst="ellipse">
            <a:avLst/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9"/>
          <p:cNvSpPr/>
          <p:nvPr/>
        </p:nvSpPr>
        <p:spPr>
          <a:xfrm>
            <a:off x="475560" y="153612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Develop locally relevant teaching materials: phishing, 2FA, safe passwords, privacy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0"/>
          <p:cNvSpPr/>
          <p:nvPr/>
        </p:nvSpPr>
        <p:spPr>
          <a:xfrm>
            <a:off x="311040" y="1993320"/>
            <a:ext cx="118080" cy="118080"/>
          </a:xfrm>
          <a:prstGeom prst="ellipse">
            <a:avLst/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11"/>
          <p:cNvSpPr/>
          <p:nvPr/>
        </p:nvSpPr>
        <p:spPr>
          <a:xfrm>
            <a:off x="475560" y="192024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Train teachers, especially in non-technical streams (70.2% of respondents)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12"/>
          <p:cNvSpPr/>
          <p:nvPr/>
        </p:nvSpPr>
        <p:spPr>
          <a:xfrm>
            <a:off x="311040" y="2377440"/>
            <a:ext cx="118080" cy="118080"/>
          </a:xfrm>
          <a:prstGeom prst="ellipse">
            <a:avLst/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13"/>
          <p:cNvSpPr/>
          <p:nvPr/>
        </p:nvSpPr>
        <p:spPr>
          <a:xfrm>
            <a:off x="475560" y="230436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Include cybersecurity orientation for all new students at the start of each academic year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14"/>
          <p:cNvSpPr/>
          <p:nvPr/>
        </p:nvSpPr>
        <p:spPr>
          <a:xfrm>
            <a:off x="4663440" y="804600"/>
            <a:ext cx="4251240" cy="2010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15"/>
          <p:cNvSpPr/>
          <p:nvPr/>
        </p:nvSpPr>
        <p:spPr>
          <a:xfrm>
            <a:off x="4663440" y="804600"/>
            <a:ext cx="4251240" cy="346680"/>
          </a:xfrm>
          <a:prstGeom prst="roundRect">
            <a:avLst>
              <a:gd name="adj" fmla="val 26316"/>
            </a:avLst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16"/>
          <p:cNvSpPr/>
          <p:nvPr/>
        </p:nvSpPr>
        <p:spPr>
          <a:xfrm>
            <a:off x="4663440" y="969120"/>
            <a:ext cx="4251240" cy="182160"/>
          </a:xfrm>
          <a:prstGeom prst="rect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17"/>
          <p:cNvSpPr/>
          <p:nvPr/>
        </p:nvSpPr>
        <p:spPr>
          <a:xfrm>
            <a:off x="4773240" y="80460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mbria"/>
                <a:ea typeface="Cambria"/>
              </a:rPr>
              <a:t>4.2 Community / Classroom Programs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18"/>
          <p:cNvSpPr/>
          <p:nvPr/>
        </p:nvSpPr>
        <p:spPr>
          <a:xfrm>
            <a:off x="4791600" y="1225440"/>
            <a:ext cx="118080" cy="118080"/>
          </a:xfrm>
          <a:prstGeom prst="ellipse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19"/>
          <p:cNvSpPr/>
          <p:nvPr/>
        </p:nvSpPr>
        <p:spPr>
          <a:xfrm>
            <a:off x="4956120" y="115200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Peer-led discussions using this study's data (49.5% affected by cyber incidents)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0"/>
          <p:cNvSpPr/>
          <p:nvPr/>
        </p:nvSpPr>
        <p:spPr>
          <a:xfrm>
            <a:off x="4791600" y="1609200"/>
            <a:ext cx="118080" cy="118080"/>
          </a:xfrm>
          <a:prstGeom prst="ellipse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21"/>
          <p:cNvSpPr/>
          <p:nvPr/>
        </p:nvSpPr>
        <p:spPr>
          <a:xfrm>
            <a:off x="4956120" y="153612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Hands-on in-class activities: check privacy settings, enable 2FA, identify phishing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22"/>
          <p:cNvSpPr/>
          <p:nvPr/>
        </p:nvSpPr>
        <p:spPr>
          <a:xfrm>
            <a:off x="4791600" y="1993320"/>
            <a:ext cx="118080" cy="118080"/>
          </a:xfrm>
          <a:prstGeom prst="ellipse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23"/>
          <p:cNvSpPr/>
          <p:nvPr/>
        </p:nvSpPr>
        <p:spPr>
          <a:xfrm>
            <a:off x="4956120" y="192024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Students create awareness content: posters, infographics, social media posts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4"/>
          <p:cNvSpPr/>
          <p:nvPr/>
        </p:nvSpPr>
        <p:spPr>
          <a:xfrm>
            <a:off x="4791600" y="2377440"/>
            <a:ext cx="118080" cy="118080"/>
          </a:xfrm>
          <a:prstGeom prst="ellipse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25"/>
          <p:cNvSpPr/>
          <p:nvPr/>
        </p:nvSpPr>
        <p:spPr>
          <a:xfrm>
            <a:off x="4956120" y="230436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Low-cost, zero-infrastructure — immediately implementable by existing teachers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26"/>
          <p:cNvSpPr/>
          <p:nvPr/>
        </p:nvSpPr>
        <p:spPr>
          <a:xfrm>
            <a:off x="182880" y="2944440"/>
            <a:ext cx="4251240" cy="2010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27"/>
          <p:cNvSpPr/>
          <p:nvPr/>
        </p:nvSpPr>
        <p:spPr>
          <a:xfrm>
            <a:off x="182880" y="2944440"/>
            <a:ext cx="4251240" cy="346680"/>
          </a:xfrm>
          <a:prstGeom prst="roundRect">
            <a:avLst>
              <a:gd name="adj" fmla="val 26316"/>
            </a:avLst>
          </a:prstGeom>
          <a:solidFill>
            <a:srgbClr val="7C3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Shape 28"/>
          <p:cNvSpPr/>
          <p:nvPr/>
        </p:nvSpPr>
        <p:spPr>
          <a:xfrm>
            <a:off x="182880" y="3108960"/>
            <a:ext cx="4251240" cy="18216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29"/>
          <p:cNvSpPr/>
          <p:nvPr/>
        </p:nvSpPr>
        <p:spPr>
          <a:xfrm>
            <a:off x="292680" y="294444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mbria"/>
                <a:ea typeface="Cambria"/>
              </a:rPr>
              <a:t>4.3 Policymakers &amp; Digital Literacy Campaigns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30"/>
          <p:cNvSpPr/>
          <p:nvPr/>
        </p:nvSpPr>
        <p:spPr>
          <a:xfrm>
            <a:off x="311040" y="3364920"/>
            <a:ext cx="118080" cy="1180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31"/>
          <p:cNvSpPr/>
          <p:nvPr/>
        </p:nvSpPr>
        <p:spPr>
          <a:xfrm>
            <a:off x="475560" y="329184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Policies promoting free and legitimate security tools (antivirus, VPN) — only 37.6% use them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32"/>
          <p:cNvSpPr/>
          <p:nvPr/>
        </p:nvSpPr>
        <p:spPr>
          <a:xfrm>
            <a:off x="311040" y="3749040"/>
            <a:ext cx="118080" cy="1180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33"/>
          <p:cNvSpPr/>
          <p:nvPr/>
        </p:nvSpPr>
        <p:spPr>
          <a:xfrm>
            <a:off x="475560" y="367596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Government-backed digital literacy programs targeting semi-urban regions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34"/>
          <p:cNvSpPr/>
          <p:nvPr/>
        </p:nvSpPr>
        <p:spPr>
          <a:xfrm>
            <a:off x="311040" y="4133160"/>
            <a:ext cx="118080" cy="1180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35"/>
          <p:cNvSpPr/>
          <p:nvPr/>
        </p:nvSpPr>
        <p:spPr>
          <a:xfrm>
            <a:off x="475560" y="406008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Integrate cybersecurity into national curriculum, especially non-technical streams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36"/>
          <p:cNvSpPr/>
          <p:nvPr/>
        </p:nvSpPr>
        <p:spPr>
          <a:xfrm>
            <a:off x="311040" y="4517280"/>
            <a:ext cx="118080" cy="11808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37"/>
          <p:cNvSpPr/>
          <p:nvPr/>
        </p:nvSpPr>
        <p:spPr>
          <a:xfrm>
            <a:off x="475560" y="444384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Ward/municipality-level digital safety initiatives using this study as baseline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38"/>
          <p:cNvSpPr/>
          <p:nvPr/>
        </p:nvSpPr>
        <p:spPr>
          <a:xfrm>
            <a:off x="4663440" y="2944440"/>
            <a:ext cx="4251240" cy="20109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39"/>
          <p:cNvSpPr/>
          <p:nvPr/>
        </p:nvSpPr>
        <p:spPr>
          <a:xfrm>
            <a:off x="4663440" y="2944440"/>
            <a:ext cx="4251240" cy="346680"/>
          </a:xfrm>
          <a:prstGeom prst="roundRect">
            <a:avLst>
              <a:gd name="adj" fmla="val 26316"/>
            </a:avLst>
          </a:prstGeom>
          <a:solidFill>
            <a:srgbClr val="0369A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Shape 40"/>
          <p:cNvSpPr/>
          <p:nvPr/>
        </p:nvSpPr>
        <p:spPr>
          <a:xfrm>
            <a:off x="4663440" y="3108960"/>
            <a:ext cx="4251240" cy="182160"/>
          </a:xfrm>
          <a:prstGeom prst="rect">
            <a:avLst/>
          </a:prstGeom>
          <a:solidFill>
            <a:srgbClr val="0369A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41"/>
          <p:cNvSpPr/>
          <p:nvPr/>
        </p:nvSpPr>
        <p:spPr>
          <a:xfrm>
            <a:off x="4773240" y="2944440"/>
            <a:ext cx="40226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mbria"/>
                <a:ea typeface="Cambria"/>
              </a:rPr>
              <a:t>4.4 Public Awareness Initiatives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42"/>
          <p:cNvSpPr/>
          <p:nvPr/>
        </p:nvSpPr>
        <p:spPr>
          <a:xfrm>
            <a:off x="4791600" y="3364920"/>
            <a:ext cx="118080" cy="118080"/>
          </a:xfrm>
          <a:prstGeom prst="ellipse">
            <a:avLst/>
          </a:prstGeom>
          <a:solidFill>
            <a:srgbClr val="0369A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43"/>
          <p:cNvSpPr/>
          <p:nvPr/>
        </p:nvSpPr>
        <p:spPr>
          <a:xfrm>
            <a:off x="4956120" y="329184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Posters &amp; flyers: 'Do not share your OTP', 'Enable 2FA', 'Avoid unknown links'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44"/>
          <p:cNvSpPr/>
          <p:nvPr/>
        </p:nvSpPr>
        <p:spPr>
          <a:xfrm>
            <a:off x="4791600" y="3749040"/>
            <a:ext cx="118080" cy="118080"/>
          </a:xfrm>
          <a:prstGeom prst="ellipse">
            <a:avLst/>
          </a:prstGeom>
          <a:solidFill>
            <a:srgbClr val="0369A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45"/>
          <p:cNvSpPr/>
          <p:nvPr/>
        </p:nvSpPr>
        <p:spPr>
          <a:xfrm>
            <a:off x="4956120" y="367596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Social media content (Facebook, TikTok) in Nepali and local languages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46"/>
          <p:cNvSpPr/>
          <p:nvPr/>
        </p:nvSpPr>
        <p:spPr>
          <a:xfrm>
            <a:off x="4791600" y="4133160"/>
            <a:ext cx="118080" cy="118080"/>
          </a:xfrm>
          <a:prstGeom prst="ellipse">
            <a:avLst/>
          </a:prstGeom>
          <a:solidFill>
            <a:srgbClr val="0369A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47"/>
          <p:cNvSpPr/>
          <p:nvPr/>
        </p:nvSpPr>
        <p:spPr>
          <a:xfrm>
            <a:off x="4956120" y="406008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Short videos: 1 in 2 adolescents ignores risks despite awareness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48"/>
          <p:cNvSpPr/>
          <p:nvPr/>
        </p:nvSpPr>
        <p:spPr>
          <a:xfrm>
            <a:off x="4791600" y="4517280"/>
            <a:ext cx="118080" cy="118080"/>
          </a:xfrm>
          <a:prstGeom prst="ellipse">
            <a:avLst/>
          </a:prstGeom>
          <a:solidFill>
            <a:srgbClr val="0369A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49"/>
          <p:cNvSpPr/>
          <p:nvPr/>
        </p:nvSpPr>
        <p:spPr>
          <a:xfrm>
            <a:off x="4956120" y="444384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strike="noStrike" spc="-1">
                <a:solidFill>
                  <a:srgbClr val="1E293B"/>
                </a:solidFill>
                <a:latin typeface="Calibri"/>
                <a:ea typeface="Calibri"/>
              </a:rPr>
              <a:t>Academic network campaigns using peer influence in the 16–20 age group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Cambria"/>
                <a:ea typeface="Cambria"/>
              </a:rPr>
              <a:t>EVIDENCE-BASED RECOMMENDATIONS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2"/>
          <p:cNvSpPr/>
          <p:nvPr/>
        </p:nvSpPr>
        <p:spPr>
          <a:xfrm>
            <a:off x="274320" y="822960"/>
            <a:ext cx="8594640" cy="73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3"/>
          <p:cNvSpPr/>
          <p:nvPr/>
        </p:nvSpPr>
        <p:spPr>
          <a:xfrm>
            <a:off x="274320" y="822960"/>
            <a:ext cx="566280" cy="730800"/>
          </a:xfrm>
          <a:prstGeom prst="roundRect">
            <a:avLst>
              <a:gd name="adj" fmla="val 12903"/>
            </a:avLst>
          </a:prstGeom>
          <a:solidFill>
            <a:srgbClr val="0A737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4"/>
          <p:cNvSpPr/>
          <p:nvPr/>
        </p:nvSpPr>
        <p:spPr>
          <a:xfrm>
            <a:off x="274320" y="822960"/>
            <a:ext cx="5662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01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5"/>
          <p:cNvSpPr/>
          <p:nvPr/>
        </p:nvSpPr>
        <p:spPr>
          <a:xfrm>
            <a:off x="932760" y="87768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456"/>
                </a:solidFill>
                <a:latin typeface="Cambria"/>
                <a:ea typeface="Cambria"/>
              </a:rPr>
              <a:t>Curriculum Integration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6"/>
          <p:cNvSpPr/>
          <p:nvPr/>
        </p:nvSpPr>
        <p:spPr>
          <a:xfrm>
            <a:off x="932760" y="1152000"/>
            <a:ext cx="78174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E293B"/>
                </a:solidFill>
                <a:latin typeface="Calibri"/>
                <a:ea typeface="Calibri"/>
              </a:rPr>
              <a:t>Integrate short digital safety modules covering 2FA, phishing recognition, and safe password management into school and college curricula.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7"/>
          <p:cNvSpPr/>
          <p:nvPr/>
        </p:nvSpPr>
        <p:spPr>
          <a:xfrm>
            <a:off x="274320" y="1664280"/>
            <a:ext cx="8594640" cy="73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8"/>
          <p:cNvSpPr/>
          <p:nvPr/>
        </p:nvSpPr>
        <p:spPr>
          <a:xfrm>
            <a:off x="274320" y="1664280"/>
            <a:ext cx="566280" cy="730800"/>
          </a:xfrm>
          <a:prstGeom prst="roundRect">
            <a:avLst>
              <a:gd name="adj" fmla="val 12903"/>
            </a:avLst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9"/>
          <p:cNvSpPr/>
          <p:nvPr/>
        </p:nvSpPr>
        <p:spPr>
          <a:xfrm>
            <a:off x="274320" y="1664280"/>
            <a:ext cx="5662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02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10"/>
          <p:cNvSpPr/>
          <p:nvPr/>
        </p:nvSpPr>
        <p:spPr>
          <a:xfrm>
            <a:off x="932760" y="171900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456"/>
                </a:solidFill>
                <a:latin typeface="Cambria"/>
                <a:ea typeface="Cambria"/>
              </a:rPr>
              <a:t>Peer-Led Sessions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11"/>
          <p:cNvSpPr/>
          <p:nvPr/>
        </p:nvSpPr>
        <p:spPr>
          <a:xfrm>
            <a:off x="932760" y="1993320"/>
            <a:ext cx="78174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E293B"/>
                </a:solidFill>
                <a:latin typeface="Calibri"/>
                <a:ea typeface="Calibri"/>
              </a:rPr>
              <a:t>Organize peer-led cybersecurity awareness sessions in colleges, leveraging the 85.1% who already believe cybersecurity awareness is important.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12"/>
          <p:cNvSpPr/>
          <p:nvPr/>
        </p:nvSpPr>
        <p:spPr>
          <a:xfrm>
            <a:off x="274320" y="2505600"/>
            <a:ext cx="8594640" cy="73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13"/>
          <p:cNvSpPr/>
          <p:nvPr/>
        </p:nvSpPr>
        <p:spPr>
          <a:xfrm>
            <a:off x="274320" y="2505600"/>
            <a:ext cx="566280" cy="730800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14"/>
          <p:cNvSpPr/>
          <p:nvPr/>
        </p:nvSpPr>
        <p:spPr>
          <a:xfrm>
            <a:off x="274320" y="2505600"/>
            <a:ext cx="5662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03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15"/>
          <p:cNvSpPr/>
          <p:nvPr/>
        </p:nvSpPr>
        <p:spPr>
          <a:xfrm>
            <a:off x="932760" y="25603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456"/>
                </a:solidFill>
                <a:latin typeface="Cambria"/>
                <a:ea typeface="Cambria"/>
              </a:rPr>
              <a:t>Community Workshops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16"/>
          <p:cNvSpPr/>
          <p:nvPr/>
        </p:nvSpPr>
        <p:spPr>
          <a:xfrm>
            <a:off x="932760" y="2834640"/>
            <a:ext cx="78174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E293B"/>
                </a:solidFill>
                <a:latin typeface="Calibri"/>
                <a:ea typeface="Calibri"/>
              </a:rPr>
              <a:t>Conduct workshops for parents and youth to address risky behaviors: password reuse, ignoring software updates, and unsafe link clicking.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17"/>
          <p:cNvSpPr/>
          <p:nvPr/>
        </p:nvSpPr>
        <p:spPr>
          <a:xfrm>
            <a:off x="274320" y="3346560"/>
            <a:ext cx="8594640" cy="73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18"/>
          <p:cNvSpPr/>
          <p:nvPr/>
        </p:nvSpPr>
        <p:spPr>
          <a:xfrm>
            <a:off x="274320" y="3346560"/>
            <a:ext cx="566280" cy="730800"/>
          </a:xfrm>
          <a:prstGeom prst="roundRect">
            <a:avLst>
              <a:gd name="adj" fmla="val 12903"/>
            </a:avLst>
          </a:prstGeom>
          <a:solidFill>
            <a:srgbClr val="0369A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19"/>
          <p:cNvSpPr/>
          <p:nvPr/>
        </p:nvSpPr>
        <p:spPr>
          <a:xfrm>
            <a:off x="274320" y="3346560"/>
            <a:ext cx="5662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04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20"/>
          <p:cNvSpPr/>
          <p:nvPr/>
        </p:nvSpPr>
        <p:spPr>
          <a:xfrm>
            <a:off x="932760" y="340164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456"/>
                </a:solidFill>
                <a:latin typeface="Cambria"/>
                <a:ea typeface="Cambria"/>
              </a:rPr>
              <a:t>Social Media Campaigns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21"/>
          <p:cNvSpPr/>
          <p:nvPr/>
        </p:nvSpPr>
        <p:spPr>
          <a:xfrm>
            <a:off x="932760" y="3675960"/>
            <a:ext cx="78174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E293B"/>
                </a:solidFill>
                <a:latin typeface="Calibri"/>
                <a:ea typeface="Calibri"/>
              </a:rPr>
              <a:t>Share simple, locally relevant content via Facebook and TikTok — widely used by adolescents in Dhangadhi — in Nepali and local languages.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22"/>
          <p:cNvSpPr/>
          <p:nvPr/>
        </p:nvSpPr>
        <p:spPr>
          <a:xfrm>
            <a:off x="274320" y="4187880"/>
            <a:ext cx="8594640" cy="730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Shape 23"/>
          <p:cNvSpPr/>
          <p:nvPr/>
        </p:nvSpPr>
        <p:spPr>
          <a:xfrm>
            <a:off x="274320" y="4187880"/>
            <a:ext cx="566280" cy="730800"/>
          </a:xfrm>
          <a:prstGeom prst="roundRect">
            <a:avLst>
              <a:gd name="adj" fmla="val 12903"/>
            </a:avLst>
          </a:prstGeom>
          <a:solidFill>
            <a:srgbClr val="B91C1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Text 24"/>
          <p:cNvSpPr/>
          <p:nvPr/>
        </p:nvSpPr>
        <p:spPr>
          <a:xfrm>
            <a:off x="274320" y="4187880"/>
            <a:ext cx="5662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mbria"/>
                <a:ea typeface="Cambria"/>
              </a:rPr>
              <a:t>05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25"/>
          <p:cNvSpPr/>
          <p:nvPr/>
        </p:nvSpPr>
        <p:spPr>
          <a:xfrm>
            <a:off x="932760" y="424296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456"/>
                </a:solidFill>
                <a:latin typeface="Cambria"/>
                <a:ea typeface="Cambria"/>
              </a:rPr>
              <a:t>Promote Security Tools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26"/>
          <p:cNvSpPr/>
          <p:nvPr/>
        </p:nvSpPr>
        <p:spPr>
          <a:xfrm>
            <a:off x="932760" y="4517280"/>
            <a:ext cx="78174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E293B"/>
                </a:solidFill>
                <a:latin typeface="Calibri"/>
                <a:ea typeface="Calibri"/>
              </a:rPr>
              <a:t>Actively promote free and legitimate security tools such as antivirus software and VPN to address the critically low adoption rate of only 37.6%.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CHAPTER 7 · CHALLENGES &amp; MITIGATION MEASURES</a:t>
            </a:r>
            <a:endParaRPr lang="en-US" sz="1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2"/>
          <p:cNvSpPr/>
          <p:nvPr/>
        </p:nvSpPr>
        <p:spPr>
          <a:xfrm>
            <a:off x="182880" y="804600"/>
            <a:ext cx="4251240" cy="12978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3"/>
          <p:cNvSpPr/>
          <p:nvPr/>
        </p:nvSpPr>
        <p:spPr>
          <a:xfrm>
            <a:off x="311040" y="914400"/>
            <a:ext cx="255240" cy="255240"/>
          </a:xfrm>
          <a:prstGeom prst="ellipse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4"/>
          <p:cNvSpPr/>
          <p:nvPr/>
        </p:nvSpPr>
        <p:spPr>
          <a:xfrm>
            <a:off x="311040" y="91440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5"/>
          <p:cNvSpPr/>
          <p:nvPr/>
        </p:nvSpPr>
        <p:spPr>
          <a:xfrm>
            <a:off x="640080" y="877680"/>
            <a:ext cx="37026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456"/>
                </a:solidFill>
                <a:latin typeface="Cambria"/>
                <a:ea typeface="Cambria"/>
              </a:rPr>
              <a:t>Obtaining College Permissions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6"/>
          <p:cNvSpPr/>
          <p:nvPr/>
        </p:nvSpPr>
        <p:spPr>
          <a:xfrm>
            <a:off x="311040" y="1225440"/>
            <a:ext cx="400428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Mitigation: Formal permission letters from NAST; personal visits before data collection to build trust with administrators.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7"/>
          <p:cNvSpPr/>
          <p:nvPr/>
        </p:nvSpPr>
        <p:spPr>
          <a:xfrm>
            <a:off x="4663440" y="804600"/>
            <a:ext cx="4251240" cy="12978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8"/>
          <p:cNvSpPr/>
          <p:nvPr/>
        </p:nvSpPr>
        <p:spPr>
          <a:xfrm>
            <a:off x="4791600" y="914400"/>
            <a:ext cx="255240" cy="255240"/>
          </a:xfrm>
          <a:prstGeom prst="ellipse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9"/>
          <p:cNvSpPr/>
          <p:nvPr/>
        </p:nvSpPr>
        <p:spPr>
          <a:xfrm>
            <a:off x="4791600" y="91440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10"/>
          <p:cNvSpPr/>
          <p:nvPr/>
        </p:nvSpPr>
        <p:spPr>
          <a:xfrm>
            <a:off x="5120640" y="877680"/>
            <a:ext cx="37026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456"/>
                </a:solidFill>
                <a:latin typeface="Cambria"/>
                <a:ea typeface="Cambria"/>
              </a:rPr>
              <a:t>Ensuring Honest Responses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11"/>
          <p:cNvSpPr/>
          <p:nvPr/>
        </p:nvSpPr>
        <p:spPr>
          <a:xfrm>
            <a:off x="4791600" y="1225440"/>
            <a:ext cx="400428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Mitigation: Emphasized complete anonymity; no names recorded; no right/wrong answers — encouraged honest reflection.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12"/>
          <p:cNvSpPr/>
          <p:nvPr/>
        </p:nvSpPr>
        <p:spPr>
          <a:xfrm>
            <a:off x="182880" y="2221920"/>
            <a:ext cx="4251240" cy="12978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13"/>
          <p:cNvSpPr/>
          <p:nvPr/>
        </p:nvSpPr>
        <p:spPr>
          <a:xfrm>
            <a:off x="311040" y="2331720"/>
            <a:ext cx="255240" cy="255240"/>
          </a:xfrm>
          <a:prstGeom prst="ellipse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14"/>
          <p:cNvSpPr/>
          <p:nvPr/>
        </p:nvSpPr>
        <p:spPr>
          <a:xfrm>
            <a:off x="311040" y="233172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15"/>
          <p:cNvSpPr/>
          <p:nvPr/>
        </p:nvSpPr>
        <p:spPr>
          <a:xfrm>
            <a:off x="640080" y="2295000"/>
            <a:ext cx="37026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456"/>
                </a:solidFill>
                <a:latin typeface="Cambria"/>
                <a:ea typeface="Cambria"/>
              </a:rPr>
              <a:t>Managing Large Physical Dataset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16"/>
          <p:cNvSpPr/>
          <p:nvPr/>
        </p:nvSpPr>
        <p:spPr>
          <a:xfrm>
            <a:off x="311040" y="2642760"/>
            <a:ext cx="400428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Mitigation: Divided entry workload by college; double-checked digitized data against originals; rigorous cleaning removed 23 invalid entries.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7"/>
          <p:cNvSpPr/>
          <p:nvPr/>
        </p:nvSpPr>
        <p:spPr>
          <a:xfrm>
            <a:off x="4663440" y="2221920"/>
            <a:ext cx="4251240" cy="12978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8"/>
          <p:cNvSpPr/>
          <p:nvPr/>
        </p:nvSpPr>
        <p:spPr>
          <a:xfrm>
            <a:off x="4791600" y="2331720"/>
            <a:ext cx="255240" cy="255240"/>
          </a:xfrm>
          <a:prstGeom prst="ellipse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19"/>
          <p:cNvSpPr/>
          <p:nvPr/>
        </p:nvSpPr>
        <p:spPr>
          <a:xfrm>
            <a:off x="4791600" y="233172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20"/>
          <p:cNvSpPr/>
          <p:nvPr/>
        </p:nvSpPr>
        <p:spPr>
          <a:xfrm>
            <a:off x="5120640" y="2295000"/>
            <a:ext cx="37026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456"/>
                </a:solidFill>
                <a:latin typeface="Cambria"/>
                <a:ea typeface="Cambria"/>
              </a:rPr>
              <a:t>Reaching Diverse Faculties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21"/>
          <p:cNvSpPr/>
          <p:nvPr/>
        </p:nvSpPr>
        <p:spPr>
          <a:xfrm>
            <a:off x="4791600" y="2642760"/>
            <a:ext cx="400428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Mitigation: Pre-coordinated with teachers; used alternative classes when target class unavailable — achieved 70.2%/29.8% non-tech/tech split.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22"/>
          <p:cNvSpPr/>
          <p:nvPr/>
        </p:nvSpPr>
        <p:spPr>
          <a:xfrm>
            <a:off x="182880" y="3639240"/>
            <a:ext cx="4251240" cy="12978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23"/>
          <p:cNvSpPr/>
          <p:nvPr/>
        </p:nvSpPr>
        <p:spPr>
          <a:xfrm>
            <a:off x="311040" y="3749040"/>
            <a:ext cx="255240" cy="255240"/>
          </a:xfrm>
          <a:prstGeom prst="ellipse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24"/>
          <p:cNvSpPr/>
          <p:nvPr/>
        </p:nvSpPr>
        <p:spPr>
          <a:xfrm>
            <a:off x="311040" y="374904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25"/>
          <p:cNvSpPr/>
          <p:nvPr/>
        </p:nvSpPr>
        <p:spPr>
          <a:xfrm>
            <a:off x="640080" y="3712320"/>
            <a:ext cx="37026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456"/>
                </a:solidFill>
                <a:latin typeface="Cambria"/>
                <a:ea typeface="Cambria"/>
              </a:rPr>
              <a:t>Unfamiliar Cybersecurity Terms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26"/>
          <p:cNvSpPr/>
          <p:nvPr/>
        </p:nvSpPr>
        <p:spPr>
          <a:xfrm>
            <a:off x="311040" y="4060080"/>
            <a:ext cx="400428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Mitigation: Researchers present throughout to clarify terms (2FA, VPN, phishing) without leading respondents; glossary to be added to final report.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27"/>
          <p:cNvSpPr/>
          <p:nvPr/>
        </p:nvSpPr>
        <p:spPr>
          <a:xfrm>
            <a:off x="4663440" y="3639240"/>
            <a:ext cx="4251240" cy="1297800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0">
            <a:noFill/>
          </a:ln>
          <a:effectLst>
            <a:outerShdw blurRad="101520" dist="37674" dir="27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28"/>
          <p:cNvSpPr/>
          <p:nvPr/>
        </p:nvSpPr>
        <p:spPr>
          <a:xfrm>
            <a:off x="4791600" y="3749040"/>
            <a:ext cx="255240" cy="255240"/>
          </a:xfrm>
          <a:prstGeom prst="ellipse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29"/>
          <p:cNvSpPr/>
          <p:nvPr/>
        </p:nvSpPr>
        <p:spPr>
          <a:xfrm>
            <a:off x="4791600" y="3749040"/>
            <a:ext cx="255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30"/>
          <p:cNvSpPr/>
          <p:nvPr/>
        </p:nvSpPr>
        <p:spPr>
          <a:xfrm>
            <a:off x="5120640" y="3712320"/>
            <a:ext cx="37026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B3456"/>
                </a:solidFill>
                <a:latin typeface="Cambria"/>
                <a:ea typeface="Cambria"/>
              </a:rPr>
              <a:t>Data Confidentiality &amp; Privacy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 31"/>
          <p:cNvSpPr/>
          <p:nvPr/>
        </p:nvSpPr>
        <p:spPr>
          <a:xfrm>
            <a:off x="4791600" y="4060080"/>
            <a:ext cx="4004280" cy="78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E293B"/>
                </a:solidFill>
                <a:latin typeface="Calibri"/>
                <a:ea typeface="Calibri"/>
              </a:rPr>
              <a:t>Mitigation: Password-protected digital files; PII removed from analysis dataset; verbal informed consent obtained from all participants.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0"/>
          <p:cNvSpPr/>
          <p:nvPr/>
        </p:nvSpPr>
        <p:spPr>
          <a:xfrm>
            <a:off x="0" y="0"/>
            <a:ext cx="9143280" cy="100512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1"/>
          <p:cNvSpPr/>
          <p:nvPr/>
        </p:nvSpPr>
        <p:spPr>
          <a:xfrm>
            <a:off x="365760" y="0"/>
            <a:ext cx="8228880" cy="100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CONCLUSION</a:t>
            </a:r>
            <a:endParaRPr lang="en-US" sz="2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Shape 2"/>
          <p:cNvSpPr/>
          <p:nvPr/>
        </p:nvSpPr>
        <p:spPr>
          <a:xfrm>
            <a:off x="457200" y="1097280"/>
            <a:ext cx="8228880" cy="776520"/>
          </a:xfrm>
          <a:prstGeom prst="roundRect">
            <a:avLst>
              <a:gd name="adj" fmla="val 11765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3"/>
          <p:cNvSpPr/>
          <p:nvPr/>
        </p:nvSpPr>
        <p:spPr>
          <a:xfrm>
            <a:off x="594360" y="1097280"/>
            <a:ext cx="795456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E76F00"/>
                </a:solidFill>
                <a:latin typeface="Cambria"/>
                <a:ea typeface="Cambria"/>
              </a:rPr>
              <a:t>Central Finding: The barrier to digital safety is NOT lack of awareness — it is failure to convert awareness into consistent practice.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Shape 4"/>
          <p:cNvSpPr/>
          <p:nvPr/>
        </p:nvSpPr>
        <p:spPr>
          <a:xfrm>
            <a:off x="274320" y="2011680"/>
            <a:ext cx="4205520" cy="959400"/>
          </a:xfrm>
          <a:prstGeom prst="roundRect">
            <a:avLst>
              <a:gd name="adj" fmla="val 7619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5"/>
          <p:cNvSpPr/>
          <p:nvPr/>
        </p:nvSpPr>
        <p:spPr>
          <a:xfrm>
            <a:off x="384120" y="2066400"/>
            <a:ext cx="39769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D9E9E"/>
                </a:solidFill>
                <a:latin typeface="Cambria"/>
                <a:ea typeface="Cambria"/>
              </a:rPr>
              <a:t>Strong Foundation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6"/>
          <p:cNvSpPr/>
          <p:nvPr/>
        </p:nvSpPr>
        <p:spPr>
          <a:xfrm>
            <a:off x="384120" y="2359080"/>
            <a:ext cx="3976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E2E8F0"/>
                </a:solidFill>
                <a:latin typeface="Calibri"/>
                <a:ea typeface="Calibri"/>
              </a:rPr>
              <a:t>91.6% know strong passwords are important; 85.1% affirm cybersecurity awareness matters — population is receptive.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Shape 7"/>
          <p:cNvSpPr/>
          <p:nvPr/>
        </p:nvSpPr>
        <p:spPr>
          <a:xfrm>
            <a:off x="4709160" y="2011680"/>
            <a:ext cx="4205520" cy="959400"/>
          </a:xfrm>
          <a:prstGeom prst="roundRect">
            <a:avLst>
              <a:gd name="adj" fmla="val 7619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8"/>
          <p:cNvSpPr/>
          <p:nvPr/>
        </p:nvSpPr>
        <p:spPr>
          <a:xfrm>
            <a:off x="4818960" y="2066400"/>
            <a:ext cx="39769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D9E9E"/>
                </a:solidFill>
                <a:latin typeface="Cambria"/>
                <a:ea typeface="Cambria"/>
              </a:rPr>
              <a:t>Knowledge-Practice Gap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9"/>
          <p:cNvSpPr/>
          <p:nvPr/>
        </p:nvSpPr>
        <p:spPr>
          <a:xfrm>
            <a:off x="4818960" y="2359080"/>
            <a:ext cx="3976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E2E8F0"/>
                </a:solidFill>
                <a:latin typeface="Calibri"/>
                <a:ea typeface="Calibri"/>
              </a:rPr>
              <a:t>47.8% ignore known risks; only 37.6% use antivirus/VPN; only 53.5% use 2FA — awareness does not drive behavior.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Shape 10"/>
          <p:cNvSpPr/>
          <p:nvPr/>
        </p:nvSpPr>
        <p:spPr>
          <a:xfrm>
            <a:off x="274320" y="3108960"/>
            <a:ext cx="4205520" cy="959400"/>
          </a:xfrm>
          <a:prstGeom prst="roundRect">
            <a:avLst>
              <a:gd name="adj" fmla="val 7619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11"/>
          <p:cNvSpPr/>
          <p:nvPr/>
        </p:nvSpPr>
        <p:spPr>
          <a:xfrm>
            <a:off x="384120" y="3163680"/>
            <a:ext cx="39769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D9E9E"/>
                </a:solidFill>
                <a:latin typeface="Cambria"/>
                <a:ea typeface="Cambria"/>
              </a:rPr>
              <a:t>Real-World Impact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12"/>
          <p:cNvSpPr/>
          <p:nvPr/>
        </p:nvSpPr>
        <p:spPr>
          <a:xfrm>
            <a:off x="384120" y="3456360"/>
            <a:ext cx="3976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E2E8F0"/>
                </a:solidFill>
                <a:latin typeface="Calibri"/>
                <a:ea typeface="Calibri"/>
              </a:rPr>
              <a:t>49.5% personally affected by cyber incidents — these are not abstract risks but present realities in adolescents' lives.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13"/>
          <p:cNvSpPr/>
          <p:nvPr/>
        </p:nvSpPr>
        <p:spPr>
          <a:xfrm>
            <a:off x="4709160" y="3108960"/>
            <a:ext cx="4205520" cy="959400"/>
          </a:xfrm>
          <a:prstGeom prst="roundRect">
            <a:avLst>
              <a:gd name="adj" fmla="val 7619"/>
            </a:avLst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14"/>
          <p:cNvSpPr/>
          <p:nvPr/>
        </p:nvSpPr>
        <p:spPr>
          <a:xfrm>
            <a:off x="4818960" y="3163680"/>
            <a:ext cx="39769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D9E9E"/>
                </a:solidFill>
                <a:latin typeface="Cambria"/>
                <a:ea typeface="Cambria"/>
              </a:rPr>
              <a:t>Subgroup Differences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15"/>
          <p:cNvSpPr/>
          <p:nvPr/>
        </p:nvSpPr>
        <p:spPr>
          <a:xfrm>
            <a:off x="4818960" y="3456360"/>
            <a:ext cx="397692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E2E8F0"/>
                </a:solidFill>
                <a:latin typeface="Calibri"/>
                <a:ea typeface="Calibri"/>
              </a:rPr>
              <a:t>Technical stream students show greater familiarity with advanced tools; heavy internet users face greater exposure.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16"/>
          <p:cNvSpPr/>
          <p:nvPr/>
        </p:nvSpPr>
        <p:spPr>
          <a:xfrm>
            <a:off x="274320" y="4297680"/>
            <a:ext cx="8594640" cy="657720"/>
          </a:xfrm>
          <a:prstGeom prst="roundRect">
            <a:avLst>
              <a:gd name="adj" fmla="val 13889"/>
            </a:avLst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17"/>
          <p:cNvSpPr/>
          <p:nvPr/>
        </p:nvSpPr>
        <p:spPr>
          <a:xfrm>
            <a:off x="411480" y="4297680"/>
            <a:ext cx="832032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FFFFFF"/>
                </a:solidFill>
                <a:latin typeface="Calibri"/>
                <a:ea typeface="Calibri"/>
              </a:rPr>
              <a:t>Action Required: Design sustained, practical interventions — classroom activities, peer-led sessions, curriculum integration — to close the knowledge-practice gap. Dhangadhi's colleges are well-positioned to act now.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0"/>
          <p:cNvSpPr/>
          <p:nvPr/>
        </p:nvSpPr>
        <p:spPr>
          <a:xfrm>
            <a:off x="0" y="0"/>
            <a:ext cx="9143280" cy="73080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1"/>
          <p:cNvSpPr/>
          <p:nvPr/>
        </p:nvSpPr>
        <p:spPr>
          <a:xfrm>
            <a:off x="365760" y="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Cambria"/>
                <a:ea typeface="Cambria"/>
              </a:rPr>
              <a:t>LIMITATIONS &amp; FUTURE RESEARCH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9E60BF-0236-5810-01BA-566DDBDAD972}"/>
              </a:ext>
            </a:extLst>
          </p:cNvPr>
          <p:cNvGrpSpPr/>
          <p:nvPr/>
        </p:nvGrpSpPr>
        <p:grpSpPr>
          <a:xfrm>
            <a:off x="348121" y="1436701"/>
            <a:ext cx="4114080" cy="2907000"/>
            <a:chOff x="274320" y="822960"/>
            <a:chExt cx="4114080" cy="2907000"/>
          </a:xfrm>
        </p:grpSpPr>
        <p:sp>
          <p:nvSpPr>
            <p:cNvPr id="493" name="Text 2"/>
            <p:cNvSpPr/>
            <p:nvPr/>
          </p:nvSpPr>
          <p:spPr>
            <a:xfrm>
              <a:off x="274320" y="822960"/>
              <a:ext cx="4114080" cy="31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00" b="1" strike="noStrike" spc="-1" dirty="0">
                  <a:solidFill>
                    <a:srgbClr val="1B3456"/>
                  </a:solidFill>
                  <a:latin typeface="Cambria"/>
                  <a:ea typeface="Cambria"/>
                </a:rPr>
                <a:t>Current Limitations</a:t>
              </a:r>
              <a:endParaRPr lang="en-US" sz="15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4" name="Shape 3"/>
            <p:cNvSpPr/>
            <p:nvPr/>
          </p:nvSpPr>
          <p:spPr>
            <a:xfrm>
              <a:off x="274320" y="1207080"/>
              <a:ext cx="4114080" cy="547920"/>
            </a:xfrm>
            <a:prstGeom prst="roundRect">
              <a:avLst>
                <a:gd name="adj" fmla="val 11667"/>
              </a:avLst>
            </a:prstGeom>
            <a:solidFill>
              <a:srgbClr val="FFF1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5" name="Text 4"/>
            <p:cNvSpPr/>
            <p:nvPr/>
          </p:nvSpPr>
          <p:spPr>
            <a:xfrm>
              <a:off x="292680" y="1207080"/>
              <a:ext cx="410760" cy="54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>
                  <a:solidFill>
                    <a:srgbClr val="B91C1C"/>
                  </a:solidFill>
                  <a:latin typeface="Calibri"/>
                </a:rPr>
                <a:t>⚠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6" name="Text 5"/>
            <p:cNvSpPr/>
            <p:nvPr/>
          </p:nvSpPr>
          <p:spPr>
            <a:xfrm>
              <a:off x="713160" y="1207080"/>
              <a:ext cx="3611160" cy="54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Thematic/pattern analysis still in progress — deeper qualitative insights pending</a:t>
              </a:r>
              <a:endParaRPr lang="en-US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7" name="Shape 6"/>
            <p:cNvSpPr/>
            <p:nvPr/>
          </p:nvSpPr>
          <p:spPr>
            <a:xfrm>
              <a:off x="274320" y="1865520"/>
              <a:ext cx="4114080" cy="547920"/>
            </a:xfrm>
            <a:prstGeom prst="roundRect">
              <a:avLst>
                <a:gd name="adj" fmla="val 11667"/>
              </a:avLst>
            </a:prstGeom>
            <a:solidFill>
              <a:srgbClr val="FFF1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8" name="Text 7"/>
            <p:cNvSpPr/>
            <p:nvPr/>
          </p:nvSpPr>
          <p:spPr>
            <a:xfrm>
              <a:off x="292680" y="1865520"/>
              <a:ext cx="410760" cy="54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>
                  <a:solidFill>
                    <a:srgbClr val="B91C1C"/>
                  </a:solidFill>
                  <a:latin typeface="Calibri"/>
                </a:rPr>
                <a:t>⚠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9" name="Text 8"/>
            <p:cNvSpPr/>
            <p:nvPr/>
          </p:nvSpPr>
          <p:spPr>
            <a:xfrm>
              <a:off x="713160" y="1865520"/>
              <a:ext cx="3611160" cy="54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Self-reported data carries potential social desirability bias (mitigated by anonymity)</a:t>
              </a:r>
              <a:endParaRPr lang="en-US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0" name="Shape 9"/>
            <p:cNvSpPr/>
            <p:nvPr/>
          </p:nvSpPr>
          <p:spPr>
            <a:xfrm>
              <a:off x="274320" y="2523600"/>
              <a:ext cx="4114080" cy="547920"/>
            </a:xfrm>
            <a:prstGeom prst="roundRect">
              <a:avLst>
                <a:gd name="adj" fmla="val 11667"/>
              </a:avLst>
            </a:prstGeom>
            <a:solidFill>
              <a:srgbClr val="FFF1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1" name="Text 10"/>
            <p:cNvSpPr/>
            <p:nvPr/>
          </p:nvSpPr>
          <p:spPr>
            <a:xfrm>
              <a:off x="292680" y="2523600"/>
              <a:ext cx="410760" cy="54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>
                  <a:solidFill>
                    <a:srgbClr val="B91C1C"/>
                  </a:solidFill>
                  <a:latin typeface="Calibri"/>
                </a:rPr>
                <a:t>⚠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2" name="Text 11"/>
            <p:cNvSpPr/>
            <p:nvPr/>
          </p:nvSpPr>
          <p:spPr>
            <a:xfrm>
              <a:off x="713160" y="2523600"/>
              <a:ext cx="3611160" cy="54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strike="noStrike" spc="-1" dirty="0">
                  <a:solidFill>
                    <a:srgbClr val="1E293B"/>
                  </a:solidFill>
                  <a:latin typeface="Calibri"/>
                  <a:ea typeface="Calibri"/>
                </a:rPr>
                <a:t>Convenience + purposive sampling; results specific to </a:t>
              </a:r>
              <a:r>
                <a:rPr lang="en-US" sz="1100" b="0" strike="noStrike" spc="-1" dirty="0" err="1">
                  <a:solidFill>
                    <a:srgbClr val="1E293B"/>
                  </a:solidFill>
                  <a:latin typeface="Calibri"/>
                  <a:ea typeface="Calibri"/>
                </a:rPr>
                <a:t>Dhangadhi</a:t>
              </a:r>
              <a:r>
                <a:rPr lang="en-US" sz="1100" b="0" strike="noStrike" spc="-1" dirty="0">
                  <a:solidFill>
                    <a:srgbClr val="1E293B"/>
                  </a:solidFill>
                  <a:latin typeface="Calibri"/>
                  <a:ea typeface="Calibri"/>
                </a:rPr>
                <a:t> colleges</a:t>
              </a:r>
              <a:endParaRPr lang="en-US" sz="11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3" name="Shape 12"/>
            <p:cNvSpPr/>
            <p:nvPr/>
          </p:nvSpPr>
          <p:spPr>
            <a:xfrm>
              <a:off x="274320" y="3182040"/>
              <a:ext cx="4114080" cy="547920"/>
            </a:xfrm>
            <a:prstGeom prst="roundRect">
              <a:avLst>
                <a:gd name="adj" fmla="val 11667"/>
              </a:avLst>
            </a:prstGeom>
            <a:solidFill>
              <a:srgbClr val="FFF1F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4" name="Text 13"/>
            <p:cNvSpPr/>
            <p:nvPr/>
          </p:nvSpPr>
          <p:spPr>
            <a:xfrm>
              <a:off x="292680" y="3182040"/>
              <a:ext cx="410760" cy="54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400" b="0" strike="noStrike" spc="-1">
                  <a:solidFill>
                    <a:srgbClr val="B91C1C"/>
                  </a:solidFill>
                  <a:latin typeface="Calibri"/>
                </a:rPr>
                <a:t>⚠</a:t>
              </a:r>
              <a:endParaRPr lang="en-US" sz="14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5" name="Text 14"/>
            <p:cNvSpPr/>
            <p:nvPr/>
          </p:nvSpPr>
          <p:spPr>
            <a:xfrm>
              <a:off x="713160" y="3182040"/>
              <a:ext cx="3611160" cy="547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Cross-sectional design — does not capture change over time</a:t>
              </a:r>
              <a:endParaRPr lang="en-US" sz="11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D29BEE9-7ED7-402B-7CD4-5E70B95213A1}"/>
              </a:ext>
            </a:extLst>
          </p:cNvPr>
          <p:cNvGrpSpPr/>
          <p:nvPr/>
        </p:nvGrpSpPr>
        <p:grpSpPr>
          <a:xfrm>
            <a:off x="4590359" y="1198741"/>
            <a:ext cx="4205520" cy="3620160"/>
            <a:chOff x="4663440" y="822960"/>
            <a:chExt cx="4205520" cy="3620160"/>
          </a:xfrm>
        </p:grpSpPr>
        <p:sp>
          <p:nvSpPr>
            <p:cNvPr id="506" name="Text 15"/>
            <p:cNvSpPr/>
            <p:nvPr/>
          </p:nvSpPr>
          <p:spPr>
            <a:xfrm>
              <a:off x="4663440" y="822960"/>
              <a:ext cx="4114080" cy="31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00" b="1" strike="noStrike" spc="-1">
                  <a:solidFill>
                    <a:srgbClr val="1B3456"/>
                  </a:solidFill>
                  <a:latin typeface="Cambria"/>
                  <a:ea typeface="Cambria"/>
                </a:rPr>
                <a:t>Future Research Directions</a:t>
              </a:r>
              <a:endParaRPr lang="en-US" sz="15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7" name="Shape 16"/>
            <p:cNvSpPr/>
            <p:nvPr/>
          </p:nvSpPr>
          <p:spPr>
            <a:xfrm>
              <a:off x="4663440" y="1207080"/>
              <a:ext cx="4205520" cy="71244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0">
              <a:noFill/>
            </a:ln>
            <a:effectLst>
              <a:outerShdw blurRad="101520" dist="37674" dir="2700000" algn="bl" rotWithShape="0">
                <a:srgbClr val="000000">
                  <a:alpha val="12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8" name="Text 17"/>
            <p:cNvSpPr/>
            <p:nvPr/>
          </p:nvSpPr>
          <p:spPr>
            <a:xfrm>
              <a:off x="4681800" y="1207080"/>
              <a:ext cx="383400" cy="71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0" strike="noStrike" spc="-1">
                  <a:solidFill>
                    <a:srgbClr val="0A7373"/>
                  </a:solidFill>
                  <a:latin typeface="Calibri"/>
                </a:rPr>
                <a:t>→</a:t>
              </a:r>
              <a:endParaRPr lang="en-US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9" name="Text 18"/>
            <p:cNvSpPr/>
            <p:nvPr/>
          </p:nvSpPr>
          <p:spPr>
            <a:xfrm>
              <a:off x="5065920" y="1243440"/>
              <a:ext cx="3702600" cy="2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strike="noStrike" spc="-1">
                  <a:solidFill>
                    <a:srgbClr val="0A7373"/>
                  </a:solidFill>
                  <a:latin typeface="Cambria"/>
                  <a:ea typeface="Cambria"/>
                </a:rPr>
                <a:t>Expand Geography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0" name="Text 19"/>
            <p:cNvSpPr/>
            <p:nvPr/>
          </p:nvSpPr>
          <p:spPr>
            <a:xfrm>
              <a:off x="5065920" y="1481400"/>
              <a:ext cx="3702600" cy="38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Replicate study in other districts of Kailali to test whether findings generalize beyond Dhangadhi.</a:t>
              </a:r>
              <a:endParaRPr lang="en-US" sz="105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1" name="Shape 20"/>
            <p:cNvSpPr/>
            <p:nvPr/>
          </p:nvSpPr>
          <p:spPr>
            <a:xfrm>
              <a:off x="4663440" y="2048400"/>
              <a:ext cx="4205520" cy="71244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0">
              <a:noFill/>
            </a:ln>
            <a:effectLst>
              <a:outerShdw blurRad="101520" dist="37674" dir="2700000" algn="bl" rotWithShape="0">
                <a:srgbClr val="000000">
                  <a:alpha val="12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2" name="Text 21"/>
            <p:cNvSpPr/>
            <p:nvPr/>
          </p:nvSpPr>
          <p:spPr>
            <a:xfrm>
              <a:off x="4681800" y="2048400"/>
              <a:ext cx="383400" cy="71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0" strike="noStrike" spc="-1">
                  <a:solidFill>
                    <a:srgbClr val="0A7373"/>
                  </a:solidFill>
                  <a:latin typeface="Calibri"/>
                </a:rPr>
                <a:t>→</a:t>
              </a:r>
              <a:endParaRPr lang="en-US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3" name="Text 22"/>
            <p:cNvSpPr/>
            <p:nvPr/>
          </p:nvSpPr>
          <p:spPr>
            <a:xfrm>
              <a:off x="5065920" y="2084760"/>
              <a:ext cx="3702600" cy="2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strike="noStrike" spc="-1">
                  <a:solidFill>
                    <a:srgbClr val="0A7373"/>
                  </a:solidFill>
                  <a:latin typeface="Cambria"/>
                  <a:ea typeface="Cambria"/>
                </a:rPr>
                <a:t>Intervention Study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4" name="Text 23"/>
            <p:cNvSpPr/>
            <p:nvPr/>
          </p:nvSpPr>
          <p:spPr>
            <a:xfrm>
              <a:off x="5065920" y="2322720"/>
              <a:ext cx="3702600" cy="38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Follow-up survey after a cybersecurity awareness intervention to measure actual behavioral change.</a:t>
              </a:r>
              <a:endParaRPr lang="en-US" sz="105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5" name="Shape 24"/>
            <p:cNvSpPr/>
            <p:nvPr/>
          </p:nvSpPr>
          <p:spPr>
            <a:xfrm>
              <a:off x="4663440" y="2889360"/>
              <a:ext cx="4205520" cy="71244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0">
              <a:noFill/>
            </a:ln>
            <a:effectLst>
              <a:outerShdw blurRad="101520" dist="37674" dir="2700000" algn="bl" rotWithShape="0">
                <a:srgbClr val="000000">
                  <a:alpha val="12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6" name="Text 25"/>
            <p:cNvSpPr/>
            <p:nvPr/>
          </p:nvSpPr>
          <p:spPr>
            <a:xfrm>
              <a:off x="4681800" y="2889360"/>
              <a:ext cx="383400" cy="71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0" strike="noStrike" spc="-1">
                  <a:solidFill>
                    <a:srgbClr val="0A7373"/>
                  </a:solidFill>
                  <a:latin typeface="Calibri"/>
                </a:rPr>
                <a:t>→</a:t>
              </a:r>
              <a:endParaRPr lang="en-US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7" name="Text 26"/>
            <p:cNvSpPr/>
            <p:nvPr/>
          </p:nvSpPr>
          <p:spPr>
            <a:xfrm>
              <a:off x="5065920" y="2926080"/>
              <a:ext cx="3702600" cy="2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strike="noStrike" spc="-1">
                  <a:solidFill>
                    <a:srgbClr val="0A7373"/>
                  </a:solidFill>
                  <a:latin typeface="Cambria"/>
                  <a:ea typeface="Cambria"/>
                </a:rPr>
                <a:t>Qualitative Research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8" name="Text 27"/>
            <p:cNvSpPr/>
            <p:nvPr/>
          </p:nvSpPr>
          <p:spPr>
            <a:xfrm>
              <a:off x="5065920" y="3163680"/>
              <a:ext cx="3702600" cy="38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In-depth interviews to understand WHY adolescents disengage from safe practices despite awareness.</a:t>
              </a:r>
              <a:endParaRPr lang="en-US" sz="105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9" name="Shape 28"/>
            <p:cNvSpPr/>
            <p:nvPr/>
          </p:nvSpPr>
          <p:spPr>
            <a:xfrm>
              <a:off x="4663440" y="3730680"/>
              <a:ext cx="4205520" cy="712440"/>
            </a:xfrm>
            <a:prstGeom prst="roundRect">
              <a:avLst>
                <a:gd name="adj" fmla="val 10256"/>
              </a:avLst>
            </a:prstGeom>
            <a:solidFill>
              <a:srgbClr val="FFFFFF"/>
            </a:solidFill>
            <a:ln w="0">
              <a:noFill/>
            </a:ln>
            <a:effectLst>
              <a:outerShdw blurRad="101520" dist="37674" dir="2700000" algn="bl" rotWithShape="0">
                <a:srgbClr val="000000">
                  <a:alpha val="12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0" name="Text 29"/>
            <p:cNvSpPr/>
            <p:nvPr/>
          </p:nvSpPr>
          <p:spPr>
            <a:xfrm>
              <a:off x="4681800" y="3730680"/>
              <a:ext cx="383400" cy="712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600" b="0" strike="noStrike" spc="-1">
                  <a:solidFill>
                    <a:srgbClr val="0A7373"/>
                  </a:solidFill>
                  <a:latin typeface="Calibri"/>
                </a:rPr>
                <a:t>→</a:t>
              </a:r>
              <a:endParaRPr lang="en-US" sz="16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1" name="Text 30"/>
            <p:cNvSpPr/>
            <p:nvPr/>
          </p:nvSpPr>
          <p:spPr>
            <a:xfrm>
              <a:off x="5065920" y="3767400"/>
              <a:ext cx="3702600" cy="23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200" b="1" strike="noStrike" spc="-1">
                  <a:solidFill>
                    <a:srgbClr val="0A7373"/>
                  </a:solidFill>
                  <a:latin typeface="Cambria"/>
                  <a:ea typeface="Cambria"/>
                </a:rPr>
                <a:t>Longitudinal Design</a:t>
              </a:r>
              <a:endParaRPr lang="en-US" sz="12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2" name="Text 31"/>
            <p:cNvSpPr/>
            <p:nvPr/>
          </p:nvSpPr>
          <p:spPr>
            <a:xfrm>
              <a:off x="5065920" y="4005000"/>
              <a:ext cx="3702600" cy="38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50" b="0" strike="noStrike" spc="-1">
                  <a:solidFill>
                    <a:srgbClr val="1E293B"/>
                  </a:solidFill>
                  <a:latin typeface="Calibri"/>
                  <a:ea typeface="Calibri"/>
                </a:rPr>
                <a:t>Track how cybersecurity awareness and practices evolve over time with educational interventions.</a:t>
              </a:r>
              <a:endParaRPr lang="en-US" sz="105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1B345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4" name="Image 0" descr="preencoded.png"/>
          <p:cNvPicPr/>
          <p:nvPr/>
        </p:nvPicPr>
        <p:blipFill>
          <a:blip r:embed="rId3"/>
          <a:stretch/>
        </p:blipFill>
        <p:spPr>
          <a:xfrm>
            <a:off x="4122204" y="762691"/>
            <a:ext cx="899592" cy="900869"/>
          </a:xfrm>
          <a:prstGeom prst="rect">
            <a:avLst/>
          </a:prstGeom>
          <a:ln w="0">
            <a:noFill/>
          </a:ln>
        </p:spPr>
      </p:pic>
      <p:sp>
        <p:nvSpPr>
          <p:cNvPr id="525" name="Text 1"/>
          <p:cNvSpPr/>
          <p:nvPr/>
        </p:nvSpPr>
        <p:spPr>
          <a:xfrm>
            <a:off x="914400" y="1691640"/>
            <a:ext cx="7314480" cy="7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Thank You</a:t>
            </a:r>
            <a:endParaRPr lang="en-US" sz="4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2"/>
          <p:cNvSpPr/>
          <p:nvPr/>
        </p:nvSpPr>
        <p:spPr>
          <a:xfrm>
            <a:off x="914400" y="251460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E2E8F0"/>
                </a:solidFill>
                <a:latin typeface="Calibri"/>
                <a:ea typeface="Calibri"/>
              </a:rPr>
              <a:t>Cybersecurity Awareness and Digital Safety Practices Among Adolescents Aged 16–20 in Dhangadhi, Nepal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Shape 3"/>
          <p:cNvSpPr/>
          <p:nvPr/>
        </p:nvSpPr>
        <p:spPr>
          <a:xfrm>
            <a:off x="2743200" y="3108960"/>
            <a:ext cx="3656880" cy="36000"/>
          </a:xfrm>
          <a:prstGeom prst="rect">
            <a:avLst/>
          </a:prstGeom>
          <a:solidFill>
            <a:srgbClr val="E76F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8280" rIns="90000" bIns="-82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Text 4"/>
          <p:cNvSpPr/>
          <p:nvPr/>
        </p:nvSpPr>
        <p:spPr>
          <a:xfrm>
            <a:off x="457200" y="321876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 dirty="0">
                <a:solidFill>
                  <a:srgbClr val="0D9E9E"/>
                </a:solidFill>
                <a:latin typeface="Calibri"/>
                <a:ea typeface="Calibri"/>
              </a:rPr>
              <a:t>Bikram </a:t>
            </a:r>
            <a:r>
              <a:rPr lang="en-US" sz="1150" b="0" strike="noStrike" spc="-1" dirty="0" err="1">
                <a:solidFill>
                  <a:srgbClr val="0D9E9E"/>
                </a:solidFill>
                <a:latin typeface="Calibri"/>
                <a:ea typeface="Calibri"/>
              </a:rPr>
              <a:t>Chapagain</a:t>
            </a:r>
            <a:r>
              <a:rPr lang="en-US" sz="1150" b="0" strike="noStrike" spc="-1" dirty="0">
                <a:solidFill>
                  <a:srgbClr val="0D9E9E"/>
                </a:solidFill>
                <a:latin typeface="Calibri"/>
                <a:ea typeface="Calibri"/>
              </a:rPr>
              <a:t>  |  Kaustubh Pant  |  Maniram Chaudhary  |  </a:t>
            </a:r>
            <a:r>
              <a:rPr lang="en-US" sz="1150" b="0" strike="noStrike" spc="-1" dirty="0" err="1">
                <a:solidFill>
                  <a:srgbClr val="0D9E9E"/>
                </a:solidFill>
                <a:latin typeface="Calibri"/>
                <a:ea typeface="Calibri"/>
              </a:rPr>
              <a:t>Sandarv</a:t>
            </a:r>
            <a:r>
              <a:rPr lang="en-US" sz="1150" b="0" strike="noStrike" spc="-1" dirty="0">
                <a:solidFill>
                  <a:srgbClr val="0D9E9E"/>
                </a:solidFill>
                <a:latin typeface="Calibri"/>
                <a:ea typeface="Calibri"/>
              </a:rPr>
              <a:t> </a:t>
            </a:r>
            <a:r>
              <a:rPr lang="en-US" sz="1150" b="0" strike="noStrike" spc="-1" dirty="0" err="1">
                <a:solidFill>
                  <a:srgbClr val="0D9E9E"/>
                </a:solidFill>
                <a:latin typeface="Calibri"/>
                <a:ea typeface="Calibri"/>
              </a:rPr>
              <a:t>Lamichhane</a:t>
            </a:r>
            <a:endParaRPr lang="en-US" sz="115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5"/>
          <p:cNvSpPr/>
          <p:nvPr/>
        </p:nvSpPr>
        <p:spPr>
          <a:xfrm>
            <a:off x="457200" y="356616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National Academy of Science and Technology, </a:t>
            </a:r>
            <a:r>
              <a:rPr lang="en-US" sz="1100" b="0" strike="noStrike" spc="-1" dirty="0" err="1">
                <a:solidFill>
                  <a:schemeClr val="bg1"/>
                </a:solidFill>
                <a:latin typeface="Calibri"/>
                <a:ea typeface="Calibri"/>
              </a:rPr>
              <a:t>Dhangadhi</a:t>
            </a:r>
            <a:r>
              <a:rPr lang="en-US" sz="1100" b="0" strike="noStrike" spc="-1" dirty="0">
                <a:solidFill>
                  <a:schemeClr val="bg1"/>
                </a:solidFill>
                <a:latin typeface="Calibri"/>
                <a:ea typeface="Calibri"/>
              </a:rPr>
              <a:t>  |  2026</a:t>
            </a:r>
            <a:endParaRPr lang="en-US" sz="11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2041</Words>
  <Application>Microsoft Office PowerPoint</Application>
  <PresentationFormat>On-screen Show (16:9)</PresentationFormat>
  <Paragraphs>338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Awareness and Digital Safety Practices Among Adolescents</dc:title>
  <dc:subject>PptxGenJS Presentation</dc:subject>
  <dc:creator>PptxGenJS</dc:creator>
  <dc:description/>
  <cp:lastModifiedBy>Maniram</cp:lastModifiedBy>
  <cp:revision>5</cp:revision>
  <dcterms:created xsi:type="dcterms:W3CDTF">2026-06-13T10:36:19Z</dcterms:created>
  <dcterms:modified xsi:type="dcterms:W3CDTF">2026-06-13T11:20:41Z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25</vt:i4>
  </property>
  <property fmtid="{D5CDD505-2E9C-101B-9397-08002B2CF9AE}" pid="3" name="PresentationFormat">
    <vt:lpwstr>On-screen Show (16:9)</vt:lpwstr>
  </property>
  <property fmtid="{D5CDD505-2E9C-101B-9397-08002B2CF9AE}" pid="4" name="Slides">
    <vt:i4>25</vt:i4>
  </property>
</Properties>
</file>